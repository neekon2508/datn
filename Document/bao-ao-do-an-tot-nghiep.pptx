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Default Extension="jpg" ContentType="image/jpe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2"/>
  </p:notesMasterIdLst>
  <p:handoutMasterIdLst>
    <p:handoutMasterId r:id="rId23"/>
  </p:handoutMasterIdLst>
  <p:sldIdLst>
    <p:sldId id="256" r:id="rId2"/>
    <p:sldId id="257" r:id="rId3"/>
    <p:sldId id="258" r:id="rId4"/>
    <p:sldId id="269" r:id="rId5"/>
    <p:sldId id="259" r:id="rId6"/>
    <p:sldId id="291" r:id="rId7"/>
    <p:sldId id="271" r:id="rId8"/>
    <p:sldId id="281" r:id="rId9"/>
    <p:sldId id="292" r:id="rId10"/>
    <p:sldId id="274" r:id="rId11"/>
    <p:sldId id="272" r:id="rId12"/>
    <p:sldId id="285" r:id="rId13"/>
    <p:sldId id="288" r:id="rId14"/>
    <p:sldId id="286" r:id="rId15"/>
    <p:sldId id="293" r:id="rId16"/>
    <p:sldId id="296" r:id="rId17"/>
    <p:sldId id="294" r:id="rId18"/>
    <p:sldId id="295" r:id="rId19"/>
    <p:sldId id="289" r:id="rId20"/>
    <p:sldId id="268" r:id="rId2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69" autoAdjust="0"/>
    <p:restoredTop sz="95356" autoAdjust="0"/>
  </p:normalViewPr>
  <p:slideViewPr>
    <p:cSldViewPr snapToGrid="0" showGuides="1">
      <p:cViewPr varScale="1">
        <p:scale>
          <a:sx n="84" d="100"/>
          <a:sy n="84" d="100"/>
        </p:scale>
        <p:origin x="610" y="67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2" d="100"/>
          <a:sy n="92" d="100"/>
        </p:scale>
        <p:origin x="3732" y="10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ableStyles" Target="tableStyle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3CEAAF3-9831-450B-8D59-2C09DB96C8FC}" type="datetimeFigureOut">
              <a:rPr lang="en-US"/>
              <a:pPr/>
              <a:t>5/22/2025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834459-7356-44BF-850D-8B30C4FB3B6B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46901652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D50CD79-FC16-4410-AB61-17F26E6D3BC8}" type="datetimeFigureOut">
              <a:rPr lang="en-US"/>
              <a:pPr/>
              <a:t>5/22/2025</a:t>
            </a:fld>
            <a:endParaRPr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A3C37BE-C303-496D-B5CD-85F2937540FC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3508422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1" dirty="0">
                <a:cs typeface="Arial" pitchFamily="34" charset="0"/>
              </a:rPr>
              <a:t>NOTE: </a:t>
            </a:r>
            <a:r>
              <a:rPr lang="en-US" sz="1200" dirty="0" smtClean="0">
                <a:cs typeface="Arial" pitchFamily="34" charset="0"/>
              </a:rPr>
              <a:t>Want a different image </a:t>
            </a:r>
            <a:r>
              <a:rPr lang="en-US" sz="1200" dirty="0">
                <a:cs typeface="Arial" pitchFamily="34" charset="0"/>
              </a:rPr>
              <a:t>on this </a:t>
            </a:r>
            <a:r>
              <a:rPr lang="en-US" sz="1200" dirty="0" smtClean="0">
                <a:cs typeface="Arial" pitchFamily="34" charset="0"/>
              </a:rPr>
              <a:t>slide? Select </a:t>
            </a:r>
            <a:r>
              <a:rPr lang="en-US" sz="1200" dirty="0">
                <a:cs typeface="Arial" pitchFamily="34" charset="0"/>
              </a:rPr>
              <a:t>the picture and delete it. </a:t>
            </a:r>
            <a:r>
              <a:rPr lang="en-US" sz="1200" dirty="0" smtClean="0">
                <a:cs typeface="Arial" pitchFamily="34" charset="0"/>
              </a:rPr>
              <a:t>Now </a:t>
            </a:r>
            <a:r>
              <a:rPr lang="en-US" sz="1200" dirty="0">
                <a:cs typeface="Arial" pitchFamily="34" charset="0"/>
              </a:rPr>
              <a:t>click the Pictures icon in the placeholder to insert your own image.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 smtClean="0"/>
              <a:pPr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55114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80535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4381006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pPr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6002493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pPr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03521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A3C37BE-C303-496D-B5CD-85F2937540FC}" type="slidenum">
              <a:rPr lang="en-US"/>
              <a:pPr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179963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1009650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898" y="4511784"/>
            <a:ext cx="10096501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4445" y="0"/>
            <a:ext cx="1747524" cy="22920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7565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8687682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Title Slid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/>
          <p:cNvGrpSpPr/>
          <p:nvPr/>
        </p:nvGrpSpPr>
        <p:grpSpPr>
          <a:xfrm rot="10800000">
            <a:off x="0" y="5645510"/>
            <a:ext cx="12192000" cy="63125"/>
            <a:chOff x="507492" y="1501519"/>
            <a:chExt cx="8129016" cy="63125"/>
          </a:xfrm>
        </p:grpSpPr>
        <p:cxnSp>
          <p:nvCxnSpPr>
            <p:cNvPr id="17" name="Straight Connector 16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Straight Connector 17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14" name="Group 13"/>
          <p:cNvGrpSpPr/>
          <p:nvPr/>
        </p:nvGrpSpPr>
        <p:grpSpPr>
          <a:xfrm>
            <a:off x="0" y="1143000"/>
            <a:ext cx="12192000" cy="63125"/>
            <a:chOff x="507492" y="1501519"/>
            <a:chExt cx="8129016" cy="63125"/>
          </a:xfrm>
        </p:grpSpPr>
        <p:cxnSp>
          <p:nvCxnSpPr>
            <p:cNvPr id="15" name="Straight Connector 14"/>
            <p:cNvCxnSpPr/>
            <p:nvPr/>
          </p:nvCxnSpPr>
          <p:spPr>
            <a:xfrm>
              <a:off x="507492" y="1564644"/>
              <a:ext cx="8129016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" name="Straight Connector 15"/>
            <p:cNvCxnSpPr/>
            <p:nvPr/>
          </p:nvCxnSpPr>
          <p:spPr>
            <a:xfrm>
              <a:off x="507492" y="1501519"/>
              <a:ext cx="8129016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7" name="Rectangle 6"/>
          <p:cNvSpPr/>
          <p:nvPr/>
        </p:nvSpPr>
        <p:spPr>
          <a:xfrm>
            <a:off x="0" y="5778124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0" y="0"/>
            <a:ext cx="12192000" cy="1079876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04900" y="2292094"/>
            <a:ext cx="5734050" cy="2219691"/>
          </a:xfrm>
        </p:spPr>
        <p:txBody>
          <a:bodyPr anchor="ctr">
            <a:normAutofit/>
          </a:bodyPr>
          <a:lstStyle>
            <a:lvl1pPr algn="l">
              <a:defRPr sz="4400" cap="all" baseline="0"/>
            </a:lvl1pPr>
          </a:lstStyle>
          <a:p>
            <a:r>
              <a:rPr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4900" y="4511784"/>
            <a:ext cx="5734050" cy="955565"/>
          </a:xfrm>
        </p:spPr>
        <p:txBody>
          <a:bodyPr>
            <a:normAutofit/>
          </a:bodyPr>
          <a:lstStyle>
            <a:lvl1pPr marL="0" indent="0" algn="l">
              <a:spcBef>
                <a:spcPts val="0"/>
              </a:spcBef>
              <a:buNone/>
              <a:defRPr sz="18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/>
              <a:t>Click to edit Master subtitle style</a:t>
            </a:r>
          </a:p>
        </p:txBody>
      </p:sp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" cstate="print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3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1325880" y="0"/>
            <a:ext cx="1747524" cy="2292094"/>
          </a:xfrm>
          <a:prstGeom prst="rect">
            <a:avLst/>
          </a:prstGeom>
        </p:spPr>
      </p:pic>
      <p:sp>
        <p:nvSpPr>
          <p:cNvPr id="11" name="Picture Placeholder 10"/>
          <p:cNvSpPr>
            <a:spLocks noGrp="1"/>
          </p:cNvSpPr>
          <p:nvPr>
            <p:ph type="pic" sz="quarter" idx="13"/>
          </p:nvPr>
        </p:nvSpPr>
        <p:spPr>
          <a:xfrm>
            <a:off x="6981063" y="1310656"/>
            <a:ext cx="5210937" cy="4208604"/>
          </a:xfrm>
          <a:solidFill>
            <a:schemeClr val="tx1">
              <a:lumMod val="20000"/>
              <a:lumOff val="80000"/>
            </a:schemeClr>
          </a:solidFill>
        </p:spPr>
        <p:txBody>
          <a:bodyPr tIns="1005840"/>
          <a:lstStyle>
            <a:lvl1pPr marL="0" indent="0" algn="ctr">
              <a:buNone/>
              <a:defRPr/>
            </a:lvl1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6739436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/>
          <p:cNvGrpSpPr/>
          <p:nvPr/>
        </p:nvGrpSpPr>
        <p:grpSpPr>
          <a:xfrm>
            <a:off x="0" y="2514600"/>
            <a:ext cx="12192000" cy="3194035"/>
            <a:chOff x="647402" y="2514600"/>
            <a:chExt cx="10838688" cy="3194035"/>
          </a:xfrm>
        </p:grpSpPr>
        <p:grpSp>
          <p:nvGrpSpPr>
            <p:cNvPr id="9" name="Group 8"/>
            <p:cNvGrpSpPr/>
            <p:nvPr/>
          </p:nvGrpSpPr>
          <p:grpSpPr>
            <a:xfrm>
              <a:off x="647402" y="2514600"/>
              <a:ext cx="10838688" cy="63125"/>
              <a:chOff x="507492" y="1501519"/>
              <a:chExt cx="8129016" cy="63125"/>
            </a:xfrm>
          </p:grpSpPr>
          <p:cxnSp>
            <p:nvCxnSpPr>
              <p:cNvPr id="14" name="Straight Connector 13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" name="Straight Connector 14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10" name="Rectangle 9"/>
            <p:cNvSpPr/>
            <p:nvPr/>
          </p:nvSpPr>
          <p:spPr>
            <a:xfrm>
              <a:off x="647402" y="2640850"/>
              <a:ext cx="10838688" cy="2941536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grpSp>
          <p:nvGrpSpPr>
            <p:cNvPr id="11" name="Group 10"/>
            <p:cNvGrpSpPr/>
            <p:nvPr/>
          </p:nvGrpSpPr>
          <p:grpSpPr>
            <a:xfrm rot="10800000">
              <a:off x="647402" y="5645510"/>
              <a:ext cx="10838688" cy="63125"/>
              <a:chOff x="507492" y="1501519"/>
              <a:chExt cx="8129016" cy="63125"/>
            </a:xfrm>
          </p:grpSpPr>
          <p:cxnSp>
            <p:nvCxnSpPr>
              <p:cNvPr id="12" name="Straight Connector 11"/>
              <p:cNvCxnSpPr/>
              <p:nvPr/>
            </p:nvCxnSpPr>
            <p:spPr>
              <a:xfrm>
                <a:off x="507492" y="1564644"/>
                <a:ext cx="8129016" cy="0"/>
              </a:xfrm>
              <a:prstGeom prst="line">
                <a:avLst/>
              </a:prstGeom>
              <a:ln w="381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" name="Straight Connector 12"/>
              <p:cNvCxnSpPr/>
              <p:nvPr/>
            </p:nvCxnSpPr>
            <p:spPr>
              <a:xfrm>
                <a:off x="507492" y="1501519"/>
                <a:ext cx="8129016" cy="0"/>
              </a:xfrm>
              <a:prstGeom prst="line">
                <a:avLst/>
              </a:prstGeom>
              <a:ln w="12700" cap="flat">
                <a:solidFill>
                  <a:schemeClr val="tx1"/>
                </a:solidFill>
                <a:miter lim="800000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04899" y="2971806"/>
            <a:ext cx="10071099" cy="1684150"/>
          </a:xfrm>
        </p:spPr>
        <p:txBody>
          <a:bodyPr anchor="ctr">
            <a:normAutofit/>
          </a:bodyPr>
          <a:lstStyle>
            <a:lvl1pPr>
              <a:defRPr sz="4400" cap="all" baseline="0">
                <a:solidFill>
                  <a:schemeClr val="bg1"/>
                </a:solidFill>
              </a:defRPr>
            </a:lvl1pPr>
          </a:lstStyle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899" y="4655956"/>
            <a:ext cx="10071099" cy="509750"/>
          </a:xfrm>
        </p:spPr>
        <p:txBody>
          <a:bodyPr>
            <a:normAutofit/>
          </a:bodyPr>
          <a:lstStyle>
            <a:lvl1pPr marL="0" indent="0">
              <a:spcBef>
                <a:spcPts val="0"/>
              </a:spcBef>
              <a:buNone/>
              <a:defRPr sz="1600">
                <a:solidFill>
                  <a:schemeClr val="bg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>
            <a:duotone>
              <a:schemeClr val="accent2">
                <a:shade val="45000"/>
                <a:satMod val="135000"/>
              </a:schemeClr>
              <a:prstClr val="white"/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25880" y="0"/>
            <a:ext cx="1783188" cy="297180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026788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  <a:lvl9pPr>
              <a:defRPr/>
            </a:lvl9pPr>
          </a:lstStyle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600200"/>
            <a:ext cx="4914900" cy="4571999"/>
          </a:xfrm>
        </p:spPr>
        <p:txBody>
          <a:bodyPr/>
          <a:lstStyle>
            <a:lvl5pPr>
              <a:defRPr/>
            </a:lvl5pPr>
            <a:lvl6pPr>
              <a:defRPr/>
            </a:lvl6pPr>
            <a:lvl7pPr>
              <a:defRPr/>
            </a:lvl7pPr>
            <a:lvl8pPr>
              <a:defRPr/>
            </a:lvl8pPr>
          </a:lstStyle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527791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4900" y="2424112"/>
            <a:ext cx="4919472" cy="3748088"/>
          </a:xfrm>
        </p:spPr>
        <p:txBody>
          <a:bodyPr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66110" y="1600200"/>
            <a:ext cx="4919472" cy="823912"/>
          </a:xfrm>
        </p:spPr>
        <p:txBody>
          <a:bodyPr anchor="b"/>
          <a:lstStyle>
            <a:lvl1pPr marL="0" indent="0">
              <a:spcBef>
                <a:spcPts val="0"/>
              </a:spcBef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66110" y="2424112"/>
            <a:ext cx="4919472" cy="3748088"/>
          </a:xfrm>
        </p:spPr>
        <p:txBody>
          <a:bodyPr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9710161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1758111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4169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641848" y="1600199"/>
            <a:ext cx="5445252" cy="4572001"/>
          </a:xfrm>
        </p:spPr>
        <p:txBody>
          <a:bodyPr>
            <a:normAutofit/>
          </a:bodyPr>
          <a:lstStyle>
            <a:lvl1pPr>
              <a:defRPr sz="2000"/>
            </a:lvl1pPr>
            <a:lvl2pPr>
              <a:defRPr sz="16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4384548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76976468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 anchor="b"/>
          <a:lstStyle>
            <a:lvl1pPr>
              <a:defRPr sz="3200"/>
            </a:lvl1pPr>
          </a:lstStyle>
          <a:p>
            <a:r>
              <a:rPr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4654671" y="1600199"/>
            <a:ext cx="6430912" cy="4572001"/>
          </a:xfrm>
        </p:spPr>
        <p:txBody>
          <a:bodyPr tIns="1188720">
            <a:normAutofit/>
          </a:bodyPr>
          <a:lstStyle>
            <a:lvl1pPr marL="0" indent="0" algn="ctr">
              <a:buNone/>
              <a:defRPr sz="20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04900" y="1600200"/>
            <a:ext cx="3396996" cy="4572000"/>
          </a:xfrm>
        </p:spPr>
        <p:txBody>
          <a:bodyPr>
            <a:normAutofit/>
          </a:bodyPr>
          <a:lstStyle>
            <a:lvl1pPr marL="0" indent="0">
              <a:spcBef>
                <a:spcPts val="1200"/>
              </a:spcBef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76963709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0120767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372600" y="365125"/>
            <a:ext cx="1714500" cy="5811838"/>
          </a:xfrm>
        </p:spPr>
        <p:txBody>
          <a:bodyPr vert="eaVert"/>
          <a:lstStyle/>
          <a:p>
            <a:r>
              <a:rPr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04900" y="365125"/>
            <a:ext cx="8098896" cy="5811838"/>
          </a:xfrm>
        </p:spPr>
        <p:txBody>
          <a:bodyPr vert="eaVert"/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  <p:grpSp>
        <p:nvGrpSpPr>
          <p:cNvPr id="7" name="Group 6"/>
          <p:cNvGrpSpPr/>
          <p:nvPr/>
        </p:nvGrpSpPr>
        <p:grpSpPr>
          <a:xfrm rot="5400000">
            <a:off x="6514047" y="3228843"/>
            <a:ext cx="5632704" cy="84403"/>
            <a:chOff x="1073150" y="1219201"/>
            <a:chExt cx="10058400" cy="63125"/>
          </a:xfrm>
        </p:grpSpPr>
        <p:cxnSp>
          <p:nvCxnSpPr>
            <p:cNvPr id="8" name="Straight Connector 7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44592712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04900" y="76200"/>
            <a:ext cx="9980682" cy="1096962"/>
          </a:xfrm>
          <a:prstGeom prst="rect">
            <a:avLst/>
          </a:prstGeom>
        </p:spPr>
        <p:txBody>
          <a:bodyPr vert="horz" lIns="0" tIns="45720" rIns="0" bIns="45720" rtlCol="0" anchor="b">
            <a:normAutofit/>
          </a:bodyPr>
          <a:lstStyle/>
          <a:p>
            <a:r>
              <a:rPr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4900" y="1600200"/>
            <a:ext cx="9982200" cy="457200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/>
              <a:t>Click to edit Master text styles</a:t>
            </a:r>
          </a:p>
          <a:p>
            <a:pPr lvl="1"/>
            <a:r>
              <a:rPr/>
              <a:t>Second level</a:t>
            </a:r>
          </a:p>
          <a:p>
            <a:pPr lvl="2"/>
            <a:r>
              <a:rPr/>
              <a:t>Third level</a:t>
            </a:r>
          </a:p>
          <a:p>
            <a:pPr lvl="3"/>
            <a:r>
              <a:rPr/>
              <a:t>Fourth level</a:t>
            </a:r>
          </a:p>
          <a:p>
            <a:pPr lvl="4"/>
            <a:r>
              <a:rPr/>
              <a:t>Fifth level</a:t>
            </a:r>
          </a:p>
          <a:p>
            <a:pPr lvl="5"/>
            <a:r>
              <a:rPr/>
              <a:t>Sixth level</a:t>
            </a:r>
          </a:p>
          <a:p>
            <a:pPr lvl="6"/>
            <a:r>
              <a:rPr/>
              <a:t>Seventh level</a:t>
            </a:r>
          </a:p>
          <a:p>
            <a:pPr lvl="7"/>
            <a:r>
              <a:rPr/>
              <a:t>Eighth level</a:t>
            </a:r>
          </a:p>
          <a:p>
            <a:pPr lvl="8"/>
            <a:r>
              <a:rPr/>
              <a:t>Ninth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104899" y="6356351"/>
            <a:ext cx="1829559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l">
              <a:defRPr sz="120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</a:lstStyle>
          <a:p>
            <a:fld id="{402B9795-92DC-40DC-A1CA-9A4B349D7824}" type="datetimeFigureOut">
              <a:rPr lang="en-US" smtClean="0"/>
              <a:pPr/>
              <a:t>5/22/2025</a:t>
            </a:fld>
            <a:endParaRPr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934459" y="6356350"/>
            <a:ext cx="6323082" cy="365126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ctr">
              <a:defRPr sz="120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256782" y="6356351"/>
            <a:ext cx="1828800" cy="365125"/>
          </a:xfrm>
          <a:prstGeom prst="rect">
            <a:avLst/>
          </a:prstGeom>
        </p:spPr>
        <p:txBody>
          <a:bodyPr vert="horz" lIns="0" tIns="45720" rIns="0" bIns="45720" rtlCol="0" anchor="ctr"/>
          <a:lstStyle>
            <a:lvl1pPr algn="r">
              <a:defRPr sz="1200">
                <a:solidFill>
                  <a:schemeClr val="tx1">
                    <a:lumMod val="60000"/>
                    <a:lumOff val="40000"/>
                  </a:schemeClr>
                </a:solidFill>
              </a:defRPr>
            </a:lvl1pPr>
          </a:lstStyle>
          <a:p>
            <a:fld id="{0FF54DE5-C571-48E8-A5BC-B369434E2F44}" type="slidenum">
              <a:rPr/>
              <a:pPr/>
              <a:t>‹#›</a:t>
            </a:fld>
            <a:endParaRPr/>
          </a:p>
        </p:txBody>
      </p:sp>
      <p:grpSp>
        <p:nvGrpSpPr>
          <p:cNvPr id="15" name="Group 14"/>
          <p:cNvGrpSpPr/>
          <p:nvPr/>
        </p:nvGrpSpPr>
        <p:grpSpPr>
          <a:xfrm>
            <a:off x="1103376" y="1219201"/>
            <a:ext cx="9985248" cy="84403"/>
            <a:chOff x="1073150" y="1219201"/>
            <a:chExt cx="10058400" cy="63125"/>
          </a:xfrm>
        </p:grpSpPr>
        <p:cxnSp>
          <p:nvCxnSpPr>
            <p:cNvPr id="13" name="Straight Connector 12"/>
            <p:cNvCxnSpPr/>
            <p:nvPr/>
          </p:nvCxnSpPr>
          <p:spPr>
            <a:xfrm rot="10800000">
              <a:off x="1073150" y="1219201"/>
              <a:ext cx="10058400" cy="0"/>
            </a:xfrm>
            <a:prstGeom prst="line">
              <a:avLst/>
            </a:prstGeom>
            <a:ln w="381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/>
            <p:cNvCxnSpPr/>
            <p:nvPr/>
          </p:nvCxnSpPr>
          <p:spPr>
            <a:xfrm rot="10800000">
              <a:off x="1073150" y="1282326"/>
              <a:ext cx="10058400" cy="0"/>
            </a:xfrm>
            <a:prstGeom prst="line">
              <a:avLst/>
            </a:prstGeom>
            <a:ln w="12700" cap="flat">
              <a:solidFill>
                <a:schemeClr val="tx1"/>
              </a:solidFill>
              <a:miter lim="800000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3462510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800"/>
        </a:spcBef>
        <a:buFont typeface="Wingdings" panose="05000000000000000000" pitchFamily="2" charset="2"/>
        <a:buChar char="§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1" pos="696">
          <p15:clr>
            <a:srgbClr val="F26B43"/>
          </p15:clr>
        </p15:guide>
        <p15:guide id="2" pos="6984">
          <p15:clr>
            <a:srgbClr val="F26B43"/>
          </p15:clr>
        </p15:guide>
        <p15:guide id="3" orient="horz" pos="1008">
          <p15:clr>
            <a:srgbClr val="F26B43"/>
          </p15:clr>
        </p15:guide>
        <p15:guide id="4" orient="horz" pos="388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jp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4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5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5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5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5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5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5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/>
          <p:cNvSpPr>
            <a:spLocks noGrp="1"/>
          </p:cNvSpPr>
          <p:nvPr>
            <p:ph type="ctrTitle"/>
          </p:nvPr>
        </p:nvSpPr>
        <p:spPr>
          <a:xfrm>
            <a:off x="161925" y="1933575"/>
            <a:ext cx="6591300" cy="1600200"/>
          </a:xfrm>
        </p:spPr>
        <p:txBody>
          <a:bodyPr anchor="ctr">
            <a:normAutofit/>
          </a:bodyPr>
          <a:lstStyle/>
          <a:p>
            <a:pPr algn="ctr"/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Báo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Cáo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/>
            </a:r>
            <a:br>
              <a:rPr lang="en-US" sz="3200" dirty="0" smtClean="0">
                <a:latin typeface="Times New Roman" pitchFamily="18" charset="0"/>
                <a:cs typeface="Times New Roman" pitchFamily="18" charset="0"/>
              </a:rPr>
            </a:b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ĐỒ ÁN TỐT NGHIỆP ĐẠI HỌC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Subtitle 6"/>
          <p:cNvSpPr>
            <a:spLocks noGrp="1"/>
          </p:cNvSpPr>
          <p:nvPr>
            <p:ph type="subTitle" idx="1"/>
          </p:nvPr>
        </p:nvSpPr>
        <p:spPr>
          <a:xfrm>
            <a:off x="819150" y="3387834"/>
            <a:ext cx="5553075" cy="612666"/>
          </a:xfrm>
        </p:spPr>
        <p:txBody>
          <a:bodyPr>
            <a:noAutofit/>
          </a:bodyPr>
          <a:lstStyle/>
          <a:p>
            <a:pPr algn="ctr"/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Xây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dựng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ứng</a:t>
            </a:r>
            <a:r>
              <a:rPr lang="en-US" sz="22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Android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học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Tiếng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Anh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200" dirty="0" err="1" smtClean="0">
                <a:latin typeface="Times New Roman" pitchFamily="18" charset="0"/>
                <a:cs typeface="Times New Roman" pitchFamily="18" charset="0"/>
              </a:rPr>
              <a:t>bằng</a:t>
            </a:r>
            <a:r>
              <a:rPr lang="en-US" sz="2200" dirty="0" smtClean="0">
                <a:latin typeface="Times New Roman" pitchFamily="18" charset="0"/>
                <a:cs typeface="Times New Roman" pitchFamily="18" charset="0"/>
              </a:rPr>
              <a:t> English flashcard</a:t>
            </a:r>
            <a:endParaRPr lang="en-US" sz="2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" name="Picture Placeholder 3" descr="Open book on table, blurred shelves of books in background"/>
          <p:cNvPicPr>
            <a:picLocks noGrp="1" noChangeAspect="1"/>
          </p:cNvPicPr>
          <p:nvPr>
            <p:ph type="pic" sz="quarter" idx="13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/>
      </p:pic>
      <p:sp>
        <p:nvSpPr>
          <p:cNvPr id="5" name="Text Box 1046"/>
          <p:cNvSpPr txBox="1">
            <a:spLocks noChangeArrowheads="1"/>
          </p:cNvSpPr>
          <p:nvPr/>
        </p:nvSpPr>
        <p:spPr bwMode="auto">
          <a:xfrm>
            <a:off x="3086100" y="260350"/>
            <a:ext cx="7086600" cy="707886"/>
          </a:xfrm>
          <a:prstGeom prst="rect">
            <a:avLst/>
          </a:prstGeom>
          <a:noFill/>
          <a:ln w="12700">
            <a:noFill/>
            <a:miter lim="800000"/>
            <a:headEnd type="none" w="sm" len="sm"/>
            <a:tailEnd type="none" w="sm" len="sm"/>
          </a:ln>
        </p:spPr>
        <p:txBody>
          <a:bodyPr wrap="square">
            <a:spAutoFit/>
          </a:bodyPr>
          <a:lstStyle/>
          <a:p>
            <a:pPr algn="ctr"/>
            <a:r>
              <a:rPr lang="en-US" sz="20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TRƯỜNG ĐẠI HỌC CÔNG NGHIỆP </a:t>
            </a:r>
            <a:r>
              <a:rPr lang="en-US" sz="2000" dirty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HÀ </a:t>
            </a:r>
            <a:r>
              <a:rPr lang="en-US" sz="2000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NỘI</a:t>
            </a:r>
            <a:endParaRPr lang="en-US" sz="2000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  <a:p>
            <a:pPr algn="ctr"/>
            <a:r>
              <a:rPr lang="en-US" sz="2000" b="1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TRƯỜNG CÔNG NGHỆ THÔNG TIN VÀ TRUYỀN THÔNG</a:t>
            </a:r>
            <a:endParaRPr lang="en-US" sz="2000" b="1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42876" y="4219575"/>
            <a:ext cx="6724650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200" dirty="0" err="1" smtClean="0"/>
              <a:t>Giáo</a:t>
            </a:r>
            <a:r>
              <a:rPr lang="en-US" sz="2200" dirty="0" smtClean="0"/>
              <a:t> </a:t>
            </a:r>
            <a:r>
              <a:rPr lang="en-US" sz="2200" dirty="0" err="1" smtClean="0"/>
              <a:t>viên</a:t>
            </a:r>
            <a:r>
              <a:rPr lang="en-US" sz="2200" dirty="0" smtClean="0"/>
              <a:t> </a:t>
            </a:r>
            <a:r>
              <a:rPr lang="en-US" sz="2200" dirty="0" err="1" smtClean="0"/>
              <a:t>hướng</a:t>
            </a:r>
            <a:r>
              <a:rPr lang="en-US" sz="2200" dirty="0" smtClean="0"/>
              <a:t> </a:t>
            </a:r>
            <a:r>
              <a:rPr lang="en-US" sz="2200" dirty="0" err="1" smtClean="0"/>
              <a:t>dẫn</a:t>
            </a:r>
            <a:r>
              <a:rPr lang="en-US" sz="2200" dirty="0" smtClean="0"/>
              <a:t>: </a:t>
            </a:r>
            <a:r>
              <a:rPr lang="en-US" sz="2200" dirty="0" smtClean="0"/>
              <a:t>PGS. TS </a:t>
            </a:r>
            <a:r>
              <a:rPr lang="en-US" sz="2200" dirty="0" err="1" smtClean="0"/>
              <a:t>Trần</a:t>
            </a:r>
            <a:r>
              <a:rPr lang="en-US" sz="2200" dirty="0" smtClean="0"/>
              <a:t> </a:t>
            </a:r>
            <a:r>
              <a:rPr lang="en-US" sz="2200" dirty="0" err="1" smtClean="0"/>
              <a:t>Đăng</a:t>
            </a:r>
            <a:r>
              <a:rPr lang="en-US" sz="2200" dirty="0" smtClean="0"/>
              <a:t> </a:t>
            </a:r>
            <a:r>
              <a:rPr lang="en-US" sz="2200" dirty="0" err="1" smtClean="0"/>
              <a:t>Hưng</a:t>
            </a:r>
            <a:endParaRPr lang="en-US" sz="2200" dirty="0" smtClean="0"/>
          </a:p>
          <a:p>
            <a:r>
              <a:rPr lang="en-US" sz="2200" dirty="0" err="1" smtClean="0"/>
              <a:t>Sinh</a:t>
            </a:r>
            <a:r>
              <a:rPr lang="en-US" sz="2200" dirty="0" smtClean="0"/>
              <a:t> </a:t>
            </a:r>
            <a:r>
              <a:rPr lang="en-US" sz="2200" dirty="0" err="1" smtClean="0"/>
              <a:t>viên</a:t>
            </a:r>
            <a:r>
              <a:rPr lang="en-US" sz="2200" dirty="0" smtClean="0"/>
              <a:t> </a:t>
            </a:r>
            <a:r>
              <a:rPr lang="en-US" sz="2200" dirty="0" err="1" smtClean="0"/>
              <a:t>thực</a:t>
            </a:r>
            <a:r>
              <a:rPr lang="en-US" sz="2200" dirty="0" smtClean="0"/>
              <a:t> </a:t>
            </a:r>
            <a:r>
              <a:rPr lang="en-US" sz="2200" dirty="0" err="1" smtClean="0"/>
              <a:t>hiện</a:t>
            </a:r>
            <a:r>
              <a:rPr lang="en-US" sz="2200" dirty="0" smtClean="0"/>
              <a:t>:   </a:t>
            </a:r>
            <a:r>
              <a:rPr lang="en-US" sz="2200" dirty="0" err="1" smtClean="0"/>
              <a:t>Nguyễn</a:t>
            </a:r>
            <a:r>
              <a:rPr lang="en-US" sz="2200" dirty="0" smtClean="0"/>
              <a:t> </a:t>
            </a:r>
            <a:r>
              <a:rPr lang="en-US" sz="2200" dirty="0" err="1" smtClean="0"/>
              <a:t>Trung</a:t>
            </a:r>
            <a:r>
              <a:rPr lang="en-US" sz="2200" dirty="0" smtClean="0"/>
              <a:t> </a:t>
            </a:r>
            <a:r>
              <a:rPr lang="en-US" sz="2200" dirty="0" err="1" smtClean="0"/>
              <a:t>Nghĩa</a:t>
            </a:r>
            <a:endParaRPr lang="en-US" sz="2200" dirty="0" smtClean="0"/>
          </a:p>
          <a:p>
            <a:r>
              <a:rPr lang="en-US" sz="2200" dirty="0" err="1" smtClean="0"/>
              <a:t>Mã</a:t>
            </a:r>
            <a:r>
              <a:rPr lang="en-US" sz="2200" dirty="0" smtClean="0"/>
              <a:t> </a:t>
            </a:r>
            <a:r>
              <a:rPr lang="en-US" sz="2200" dirty="0" err="1" smtClean="0"/>
              <a:t>sinh</a:t>
            </a:r>
            <a:r>
              <a:rPr lang="en-US" sz="2200" dirty="0" smtClean="0"/>
              <a:t> </a:t>
            </a:r>
            <a:r>
              <a:rPr lang="en-US" sz="2200" dirty="0" err="1" smtClean="0"/>
              <a:t>viên</a:t>
            </a:r>
            <a:r>
              <a:rPr lang="en-US" sz="2200" dirty="0" smtClean="0"/>
              <a:t>:</a:t>
            </a:r>
            <a:r>
              <a:rPr lang="en-US" sz="2200" dirty="0" smtClean="0"/>
              <a:t>		</a:t>
            </a:r>
            <a:r>
              <a:rPr lang="en-US" sz="2200" dirty="0" smtClean="0"/>
              <a:t>2021601003</a:t>
            </a:r>
            <a:endParaRPr lang="en-US" sz="2200" dirty="0"/>
          </a:p>
        </p:txBody>
      </p:sp>
      <p:sp>
        <p:nvSpPr>
          <p:cNvPr id="9" name="TextBox 8"/>
          <p:cNvSpPr txBox="1"/>
          <p:nvPr/>
        </p:nvSpPr>
        <p:spPr>
          <a:xfrm>
            <a:off x="2447925" y="5810250"/>
            <a:ext cx="193357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Hà</a:t>
            </a:r>
            <a:r>
              <a:rPr lang="en-US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Nội</a:t>
            </a:r>
            <a:r>
              <a:rPr lang="en-US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: </a:t>
            </a:r>
            <a:r>
              <a:rPr lang="en-US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5</a:t>
            </a:r>
            <a:r>
              <a:rPr lang="en-US" dirty="0" smtClean="0">
                <a:solidFill>
                  <a:schemeClr val="bg1"/>
                </a:solidFill>
                <a:latin typeface="Times New Roman" pitchFamily="18" charset="0"/>
                <a:cs typeface="Times New Roman" pitchFamily="18" charset="0"/>
              </a:rPr>
              <a:t>/2025</a:t>
            </a:r>
            <a:endParaRPr lang="en-US" dirty="0">
              <a:solidFill>
                <a:schemeClr val="bg1"/>
              </a:solidFill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21339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Title 12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4800" dirty="0" err="1" smtClean="0">
                <a:latin typeface="Times New Roman" pitchFamily="18" charset="0"/>
                <a:cs typeface="Times New Roman" pitchFamily="18" charset="0"/>
              </a:rPr>
              <a:t>Nội</a:t>
            </a:r>
            <a:r>
              <a:rPr lang="en-US" sz="4800" dirty="0" smtClean="0">
                <a:latin typeface="Times New Roman" pitchFamily="18" charset="0"/>
                <a:cs typeface="Times New Roman" pitchFamily="18" charset="0"/>
              </a:rPr>
              <a:t> dung </a:t>
            </a:r>
            <a:r>
              <a:rPr lang="en-US" sz="48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4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4800" dirty="0" err="1" smtClean="0">
                <a:latin typeface="Times New Roman" pitchFamily="18" charset="0"/>
                <a:cs typeface="Times New Roman" pitchFamily="18" charset="0"/>
              </a:rPr>
              <a:t>án</a:t>
            </a:r>
            <a:endParaRPr lang="en-US" sz="48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14" name="Content Placeholder 13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do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chọn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đề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tài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mục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tiêu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kết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quả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dự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kiến</a:t>
            </a:r>
            <a:endParaRPr lang="en-US" sz="32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Phân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tích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thiết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kế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hệ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thống</a:t>
            </a:r>
            <a:endParaRPr lang="en-US" sz="32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Công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nghệ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sử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endParaRPr lang="en-US" sz="32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Kết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quả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>
              <a:buFont typeface="+mj-lt"/>
              <a:buAutoNum type="arabicPeriod"/>
            </a:pP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Tổng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kết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542553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I.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do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chọn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đề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tài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mục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tiêu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kết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quả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dự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kiến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977303" y="1428750"/>
            <a:ext cx="9881197" cy="49552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 do </a:t>
            </a:r>
            <a:r>
              <a:rPr lang="en-US" sz="2800" b="1" dirty="0" err="1" smtClean="0">
                <a:latin typeface="Times New Roman" pitchFamily="18" charset="0"/>
                <a:cs typeface="Times New Roman" pitchFamily="18" charset="0"/>
              </a:rPr>
              <a:t>chọn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b="1" dirty="0" err="1" smtClean="0">
                <a:latin typeface="Times New Roman" pitchFamily="18" charset="0"/>
                <a:cs typeface="Times New Roman" pitchFamily="18" charset="0"/>
              </a:rPr>
              <a:t>đề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b="1" dirty="0" err="1" smtClean="0">
                <a:latin typeface="Times New Roman" pitchFamily="18" charset="0"/>
                <a:cs typeface="Times New Roman" pitchFamily="18" charset="0"/>
              </a:rPr>
              <a:t>tài</a:t>
            </a:r>
            <a:r>
              <a:rPr lang="en-US" sz="2800" b="1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Tiếng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Anh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đóng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vai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trò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là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ngôn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ngữ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tiếp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quốc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tế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quan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trọng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trong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tiếp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công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việc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Trong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thời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điểm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bùng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nổ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công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nghệ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thông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tin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hiện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nay,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ứng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học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ngoại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ngữ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là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công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cụ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hỗ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trợ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giúp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người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dùng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nâng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cao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kỹ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năng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Mục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tiêu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của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dự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án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Wingdings" pitchFamily="2" charset="2"/>
              <a:buChar char="ü"/>
            </a:pP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Khảo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sát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phân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tích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thiết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kế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ứng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trên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điện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thoại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Android.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Wingdings" pitchFamily="2" charset="2"/>
              <a:buChar char="ü"/>
            </a:pP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Xây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dựng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ứng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Android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học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Tiếng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Anh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bằng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English flashcard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web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quản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trị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Wingdings" pitchFamily="2" charset="2"/>
              <a:buChar char="ü"/>
            </a:pP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Kiểm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thử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ứng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Android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web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quản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trị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Kết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quả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dự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b="1" dirty="0" err="1" smtClean="0">
                <a:latin typeface="Times New Roman" pitchFamily="18" charset="0"/>
                <a:cs typeface="Times New Roman" pitchFamily="18" charset="0"/>
              </a:rPr>
              <a:t>kiến</a:t>
            </a:r>
            <a:r>
              <a:rPr lang="en-US" sz="2400" b="1" dirty="0" smtClean="0">
                <a:latin typeface="Times New Roman" pitchFamily="18" charset="0"/>
                <a:cs typeface="Times New Roman" pitchFamily="18" charset="0"/>
              </a:rPr>
              <a:t>:</a:t>
            </a:r>
            <a:endParaRPr lang="en-US" sz="2400" b="1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Wingdings" pitchFamily="2" charset="2"/>
              <a:buChar char="ü"/>
            </a:pP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Ứng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Android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học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Tiếng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Anh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bằng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flashcard</a:t>
            </a:r>
            <a:endParaRPr lang="en-US" sz="2400" dirty="0" smtClean="0">
              <a:latin typeface="Times New Roman" pitchFamily="18" charset="0"/>
              <a:cs typeface="Times New Roman" pitchFamily="18" charset="0"/>
            </a:endParaRPr>
          </a:p>
          <a:p>
            <a:pPr>
              <a:buFont typeface="Wingdings" pitchFamily="2" charset="2"/>
              <a:buChar char="ü"/>
            </a:pP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Website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quản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dữ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liệu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1027861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II.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Phân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tích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thiết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kế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hệ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thống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Biểu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use case</a:t>
            </a: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Kịch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bản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iểu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tuần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tự</a:t>
            </a: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Cơ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sở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dữ</a:t>
            </a:r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liệu</a:t>
            </a:r>
            <a:endParaRPr lang="en-US" sz="28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Biểu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use case 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1104900" y="3271284"/>
            <a:ext cx="36232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2.1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Biểu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use case web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quản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endParaRPr lang="en-US" dirty="0"/>
          </a:p>
        </p:txBody>
      </p:sp>
      <p:pic>
        <p:nvPicPr>
          <p:cNvPr id="1027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9244" y="1173162"/>
            <a:ext cx="6241483" cy="502724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8537884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Biểu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use case 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7660" y="3326148"/>
            <a:ext cx="362320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2.2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Biểu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use case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ứng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 smtClean="0">
                <a:latin typeface="Times New Roman" pitchFamily="18" charset="0"/>
                <a:cs typeface="Times New Roman" pitchFamily="18" charset="0"/>
              </a:rPr>
              <a:t>dụng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 Android</a:t>
            </a:r>
            <a:endParaRPr lang="en-US" dirty="0"/>
          </a:p>
        </p:txBody>
      </p:sp>
      <p:pic>
        <p:nvPicPr>
          <p:cNvPr id="2050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50866" y="1173162"/>
            <a:ext cx="7676796" cy="485273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1788837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Kịch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bản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>
                <a:latin typeface="Times New Roman" pitchFamily="18" charset="0"/>
                <a:cs typeface="Times New Roman" pitchFamily="18" charset="0"/>
              </a:rPr>
              <a:t>b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iểu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tuần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tự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079528" y="5976604"/>
            <a:ext cx="60314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2.3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Kịch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bản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biểu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tuần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tự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chức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năng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thêm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bộ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thẻ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07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82188" y="1498896"/>
            <a:ext cx="5293822" cy="383205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4506" y="1498896"/>
            <a:ext cx="4956546" cy="3832057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Cơ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sở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dữ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liệu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77613" y="6173725"/>
            <a:ext cx="5635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2.4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Lược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đồ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cơ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sở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dữ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liệu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4098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80744" y="1380681"/>
            <a:ext cx="6808392" cy="443577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Luồng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hoạt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động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3277613" y="6173725"/>
            <a:ext cx="563525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2.5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Luồng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hoạt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dirty="0" err="1" smtClean="0">
                <a:latin typeface="Times New Roman" pitchFamily="18" charset="0"/>
                <a:cs typeface="Times New Roman" pitchFamily="18" charset="0"/>
              </a:rPr>
              <a:t>động</a:t>
            </a:r>
            <a:r>
              <a:rPr lang="en-US" dirty="0" smtClean="0">
                <a:latin typeface="Times New Roman" pitchFamily="18" charset="0"/>
                <a:cs typeface="Times New Roman" pitchFamily="18" charset="0"/>
              </a:rPr>
              <a:t> </a:t>
            </a:r>
            <a:endParaRPr lang="en-US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251204" y="2807897"/>
            <a:ext cx="2066524" cy="1325191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31426" y="2807897"/>
            <a:ext cx="1789998" cy="1325191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535122" y="2807896"/>
            <a:ext cx="2118373" cy="1325191"/>
          </a:xfrm>
          <a:prstGeom prst="rect">
            <a:avLst/>
          </a:prstGeom>
        </p:spPr>
      </p:pic>
      <p:cxnSp>
        <p:nvCxnSpPr>
          <p:cNvPr id="7" name="Straight Arrow Connector 6"/>
          <p:cNvCxnSpPr/>
          <p:nvPr/>
        </p:nvCxnSpPr>
        <p:spPr>
          <a:xfrm flipV="1">
            <a:off x="3317728" y="3017520"/>
            <a:ext cx="1713698" cy="9144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/>
          <p:cNvCxnSpPr/>
          <p:nvPr/>
        </p:nvCxnSpPr>
        <p:spPr>
          <a:xfrm flipH="1" flipV="1">
            <a:off x="6821424" y="3867912"/>
            <a:ext cx="1713698" cy="1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/>
          <p:cNvCxnSpPr/>
          <p:nvPr/>
        </p:nvCxnSpPr>
        <p:spPr>
          <a:xfrm flipV="1">
            <a:off x="6821424" y="3050359"/>
            <a:ext cx="1713698" cy="9144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Straight Arrow Connector 13"/>
          <p:cNvCxnSpPr/>
          <p:nvPr/>
        </p:nvCxnSpPr>
        <p:spPr>
          <a:xfrm flipH="1" flipV="1">
            <a:off x="3317728" y="3867912"/>
            <a:ext cx="1713698" cy="16574"/>
          </a:xfrm>
          <a:prstGeom prst="straightConnector1">
            <a:avLst/>
          </a:prstGeom>
          <a:ln w="28575">
            <a:solidFill>
              <a:schemeClr val="tx2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3711287" y="2623230"/>
            <a:ext cx="1125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request</a:t>
            </a:r>
            <a:endParaRPr lang="en-US" b="1" dirty="0"/>
          </a:p>
        </p:txBody>
      </p:sp>
      <p:sp>
        <p:nvSpPr>
          <p:cNvPr id="26" name="TextBox 25"/>
          <p:cNvSpPr txBox="1"/>
          <p:nvPr/>
        </p:nvSpPr>
        <p:spPr>
          <a:xfrm>
            <a:off x="7115328" y="2638092"/>
            <a:ext cx="112588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request</a:t>
            </a:r>
            <a:endParaRPr lang="en-US" b="1" dirty="0"/>
          </a:p>
        </p:txBody>
      </p:sp>
      <p:sp>
        <p:nvSpPr>
          <p:cNvPr id="27" name="TextBox 26"/>
          <p:cNvSpPr txBox="1"/>
          <p:nvPr/>
        </p:nvSpPr>
        <p:spPr>
          <a:xfrm>
            <a:off x="7115327" y="3418071"/>
            <a:ext cx="1251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response</a:t>
            </a:r>
            <a:endParaRPr lang="en-US" b="1" dirty="0"/>
          </a:p>
        </p:txBody>
      </p:sp>
      <p:sp>
        <p:nvSpPr>
          <p:cNvPr id="28" name="TextBox 27"/>
          <p:cNvSpPr txBox="1"/>
          <p:nvPr/>
        </p:nvSpPr>
        <p:spPr>
          <a:xfrm>
            <a:off x="3585743" y="3462401"/>
            <a:ext cx="125143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smtClean="0"/>
              <a:t>response</a:t>
            </a:r>
            <a:endParaRPr lang="en-US" b="1" dirty="0"/>
          </a:p>
        </p:txBody>
      </p:sp>
    </p:spTree>
    <p:extLst>
      <p:ext uri="{BB962C8B-B14F-4D97-AF65-F5344CB8AC3E}">
        <p14:creationId xmlns:p14="http://schemas.microsoft.com/office/powerpoint/2010/main" val="288669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/>
              <a:t>III. </a:t>
            </a:r>
            <a:r>
              <a:rPr lang="en-US" sz="3200" dirty="0" err="1" smtClean="0"/>
              <a:t>Công</a:t>
            </a:r>
            <a:r>
              <a:rPr lang="en-US" sz="3200" dirty="0" smtClean="0"/>
              <a:t> </a:t>
            </a:r>
            <a:r>
              <a:rPr lang="en-US" sz="3200" dirty="0" err="1" smtClean="0"/>
              <a:t>nghệ</a:t>
            </a:r>
            <a:r>
              <a:rPr lang="en-US" sz="3200" dirty="0" smtClean="0"/>
              <a:t> </a:t>
            </a:r>
            <a:r>
              <a:rPr lang="en-US" sz="3200" dirty="0" err="1" smtClean="0"/>
              <a:t>sử</a:t>
            </a:r>
            <a:r>
              <a:rPr lang="en-US" sz="3200" dirty="0" smtClean="0"/>
              <a:t> </a:t>
            </a:r>
            <a:r>
              <a:rPr lang="en-US" sz="3200" dirty="0" err="1" smtClean="0"/>
              <a:t>dụng</a:t>
            </a:r>
            <a:endParaRPr lang="en-US" sz="3200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2355111"/>
            <a:ext cx="4914900" cy="3110023"/>
          </a:xfrm>
        </p:spPr>
        <p:txBody>
          <a:bodyPr>
            <a:normAutofit/>
          </a:bodyPr>
          <a:lstStyle/>
          <a:p>
            <a:pPr marL="514350" indent="-514350"/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MySQL,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AivenConsole</a:t>
            </a: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/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/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Java, Spring Framework</a:t>
            </a:r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/>
            <a:endParaRPr lang="en-US" sz="2800" dirty="0" smtClean="0">
              <a:latin typeface="Times New Roman" pitchFamily="18" charset="0"/>
              <a:cs typeface="Times New Roman" pitchFamily="18" charset="0"/>
            </a:endParaRPr>
          </a:p>
          <a:p>
            <a:pPr marL="514350" indent="-514350"/>
            <a:r>
              <a:rPr lang="en-US" sz="2800" dirty="0" smtClean="0">
                <a:latin typeface="Times New Roman" pitchFamily="18" charset="0"/>
                <a:cs typeface="Times New Roman" pitchFamily="18" charset="0"/>
              </a:rPr>
              <a:t>Bootstrap, </a:t>
            </a:r>
            <a:r>
              <a:rPr lang="en-US" sz="2800" dirty="0" err="1" smtClean="0">
                <a:latin typeface="Times New Roman" pitchFamily="18" charset="0"/>
                <a:cs typeface="Times New Roman" pitchFamily="18" charset="0"/>
              </a:rPr>
              <a:t>Thymeleaf</a:t>
            </a:r>
            <a:endParaRPr lang="en-US" sz="28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" name="Picture 4" descr="bootstrap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7253860" y="4307959"/>
            <a:ext cx="3714750" cy="17145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8" name="Content Placeholder 7"/>
          <p:cNvPicPr>
            <a:picLocks noGrp="1" noChangeAspect="1"/>
          </p:cNvPicPr>
          <p:nvPr>
            <p:ph sz="half" idx="1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95241" y="1844230"/>
            <a:ext cx="2317239" cy="1542017"/>
          </a:xfrm>
        </p:spPr>
      </p:pic>
      <p:pic>
        <p:nvPicPr>
          <p:cNvPr id="9" name="Picture 8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039987" y="1842511"/>
            <a:ext cx="2572893" cy="1543736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IV. </a:t>
            </a:r>
            <a:r>
              <a:rPr lang="en-US" dirty="0" err="1" smtClean="0"/>
              <a:t>Kết</a:t>
            </a:r>
            <a:r>
              <a:rPr lang="en-US" dirty="0" smtClean="0"/>
              <a:t> </a:t>
            </a:r>
            <a:r>
              <a:rPr lang="en-US" dirty="0" err="1" smtClean="0"/>
              <a:t>quả</a:t>
            </a:r>
            <a:r>
              <a:rPr lang="en-US" dirty="0" smtClean="0"/>
              <a:t> </a:t>
            </a:r>
            <a:r>
              <a:rPr lang="en-US" dirty="0" err="1" smtClean="0"/>
              <a:t>chương</a:t>
            </a:r>
            <a:r>
              <a:rPr lang="en-US" dirty="0" smtClean="0"/>
              <a:t> </a:t>
            </a:r>
            <a:r>
              <a:rPr lang="en-US" dirty="0" err="1" smtClean="0"/>
              <a:t>trình</a:t>
            </a:r>
            <a:endParaRPr lang="en-US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2750" y="2359152"/>
            <a:ext cx="5327908" cy="2523745"/>
          </a:xfr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99860" y="2359152"/>
            <a:ext cx="5040382" cy="2523745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868680" y="1609344"/>
            <a:ext cx="248716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 err="1" smtClean="0"/>
              <a:t>Thông</a:t>
            </a:r>
            <a:r>
              <a:rPr lang="en-US" b="1" dirty="0" smtClean="0"/>
              <a:t> tin </a:t>
            </a:r>
            <a:r>
              <a:rPr lang="en-US" b="1" dirty="0" err="1" smtClean="0"/>
              <a:t>kết</a:t>
            </a:r>
            <a:r>
              <a:rPr lang="en-US" b="1" dirty="0" smtClean="0"/>
              <a:t> </a:t>
            </a:r>
            <a:r>
              <a:rPr lang="en-US" b="1" dirty="0" err="1" smtClean="0"/>
              <a:t>nối</a:t>
            </a:r>
            <a:endParaRPr lang="en-US" b="1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Một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số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5123" name="Picture 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29659" y="1530223"/>
            <a:ext cx="8531163" cy="478828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TextBox 2"/>
          <p:cNvSpPr txBox="1"/>
          <p:nvPr/>
        </p:nvSpPr>
        <p:spPr>
          <a:xfrm>
            <a:off x="4357880" y="6419088"/>
            <a:ext cx="34747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err="1" smtClean="0"/>
              <a:t>Hình</a:t>
            </a:r>
            <a:r>
              <a:rPr lang="en-US" dirty="0" smtClean="0"/>
              <a:t> 4.1 </a:t>
            </a:r>
            <a:r>
              <a:rPr lang="en-US" dirty="0" err="1" smtClean="0"/>
              <a:t>Giao</a:t>
            </a:r>
            <a:r>
              <a:rPr lang="en-US" dirty="0" smtClean="0"/>
              <a:t> </a:t>
            </a:r>
            <a:r>
              <a:rPr lang="en-US" dirty="0" err="1" smtClean="0"/>
              <a:t>diện</a:t>
            </a:r>
            <a:r>
              <a:rPr lang="en-US" dirty="0" smtClean="0"/>
              <a:t> </a:t>
            </a:r>
            <a:r>
              <a:rPr lang="en-US" dirty="0" err="1" smtClean="0"/>
              <a:t>đăng</a:t>
            </a:r>
            <a:r>
              <a:rPr lang="en-US" dirty="0" smtClean="0"/>
              <a:t> </a:t>
            </a:r>
            <a:r>
              <a:rPr lang="en-US" dirty="0" err="1" smtClean="0"/>
              <a:t>nhập</a:t>
            </a:r>
            <a:endParaRPr lang="en-US" dirty="0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Một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số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596271" y="6350168"/>
            <a:ext cx="308289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4.2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quản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thẻ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nhớ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6146" name="Picture 1"/>
          <p:cNvPicPr>
            <a:picLocks noChangeAspect="1" noChangeArrowheads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47414" y="1698113"/>
            <a:ext cx="8306253" cy="451980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Một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số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3" y="3136166"/>
            <a:ext cx="158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4.3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chính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7170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20950" y="1372026"/>
            <a:ext cx="2480818" cy="494855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7171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82010" y="1372026"/>
            <a:ext cx="2550710" cy="501212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8" name="TextBox 7"/>
          <p:cNvSpPr txBox="1"/>
          <p:nvPr/>
        </p:nvSpPr>
        <p:spPr>
          <a:xfrm>
            <a:off x="5724144" y="3136166"/>
            <a:ext cx="18257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4.4 Navigation Drawer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Một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số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3" y="3136166"/>
            <a:ext cx="158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4.5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Chế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độ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học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724144" y="3136166"/>
            <a:ext cx="18257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4.6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Thống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kê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8195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14442" y="1372026"/>
            <a:ext cx="2697638" cy="529477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8196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21040" y="1372026"/>
            <a:ext cx="2651125" cy="5300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361788451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Một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số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310896" y="3447062"/>
            <a:ext cx="176479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4.7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Trợ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giúp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984825" y="3447062"/>
            <a:ext cx="182575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4.8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Ủng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hộ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9219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203705" y="1372026"/>
            <a:ext cx="2703731" cy="5300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9220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197061" y="1372026"/>
            <a:ext cx="2660468" cy="5300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4383018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Một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số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621793" y="3136166"/>
            <a:ext cx="158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4.9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Quản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bộ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thẻ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5868695" y="3136166"/>
            <a:ext cx="18257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4.10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Thêm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bộ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thẻ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mới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0242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453767" y="1372025"/>
            <a:ext cx="2740025" cy="5409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0243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369352" y="1372025"/>
            <a:ext cx="2716230" cy="5409921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22148594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Một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số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giao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diện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chương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trình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468521" y="3136166"/>
            <a:ext cx="1581912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4.11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Quản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thẻ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nhớ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8" name="TextBox 7"/>
          <p:cNvSpPr txBox="1"/>
          <p:nvPr/>
        </p:nvSpPr>
        <p:spPr>
          <a:xfrm>
            <a:off x="6089904" y="3136166"/>
            <a:ext cx="1825753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Hình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4.12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Thêm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thẻ</a:t>
            </a:r>
            <a:r>
              <a:rPr lang="en-US" sz="16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1600" dirty="0" err="1" smtClean="0">
                <a:latin typeface="Times New Roman" pitchFamily="18" charset="0"/>
                <a:cs typeface="Times New Roman" pitchFamily="18" charset="0"/>
              </a:rPr>
              <a:t>nhớ</a:t>
            </a:r>
            <a:endParaRPr lang="en-US" sz="1600" dirty="0">
              <a:latin typeface="Times New Roman" pitchFamily="18" charset="0"/>
              <a:cs typeface="Times New Roman" pitchFamily="18" charset="0"/>
            </a:endParaRPr>
          </a:p>
        </p:txBody>
      </p:sp>
      <p:pic>
        <p:nvPicPr>
          <p:cNvPr id="11267" name="Picture 1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376886" y="1372026"/>
            <a:ext cx="2694351" cy="530010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11268" name="Picture 1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531352" y="1372026"/>
            <a:ext cx="2626043" cy="525208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  <p:extLst>
      <p:ext uri="{BB962C8B-B14F-4D97-AF65-F5344CB8AC3E}">
        <p14:creationId xmlns:p14="http://schemas.microsoft.com/office/powerpoint/2010/main" val="73154579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V.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Tổng</a:t>
            </a:r>
            <a:r>
              <a:rPr lang="en-US" sz="3200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dirty="0" err="1" smtClean="0">
                <a:latin typeface="Times New Roman" pitchFamily="18" charset="0"/>
                <a:cs typeface="Times New Roman" pitchFamily="18" charset="0"/>
              </a:rPr>
              <a:t>kết</a:t>
            </a:r>
            <a:endParaRPr lang="en-US" sz="3200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4900" y="1408806"/>
            <a:ext cx="5327798" cy="4481631"/>
          </a:xfrm>
        </p:spPr>
        <p:txBody>
          <a:bodyPr>
            <a:noAutofit/>
          </a:bodyPr>
          <a:lstStyle/>
          <a:p>
            <a:pPr>
              <a:spcBef>
                <a:spcPts val="1200"/>
              </a:spcBef>
            </a:pP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Những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điểm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đã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đạt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được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:</a:t>
            </a:r>
          </a:p>
          <a:p>
            <a:pPr lvl="0"/>
            <a:r>
              <a:rPr lang="en-US" sz="1600" dirty="0" err="1"/>
              <a:t>Hiểu</a:t>
            </a:r>
            <a:r>
              <a:rPr lang="en-US" sz="1600" dirty="0"/>
              <a:t> </a:t>
            </a:r>
            <a:r>
              <a:rPr lang="en-US" sz="1600" dirty="0" err="1"/>
              <a:t>biết</a:t>
            </a:r>
            <a:r>
              <a:rPr lang="en-US" sz="1600" dirty="0"/>
              <a:t> </a:t>
            </a:r>
            <a:r>
              <a:rPr lang="en-US" sz="1600" dirty="0" err="1"/>
              <a:t>thêm</a:t>
            </a:r>
            <a:r>
              <a:rPr lang="en-US" sz="1600" dirty="0"/>
              <a:t> </a:t>
            </a:r>
            <a:r>
              <a:rPr lang="en-US" sz="1600" dirty="0" err="1"/>
              <a:t>về</a:t>
            </a:r>
            <a:r>
              <a:rPr lang="en-US" sz="1600" dirty="0"/>
              <a:t> </a:t>
            </a:r>
            <a:r>
              <a:rPr lang="en-US" sz="1600" dirty="0" err="1"/>
              <a:t>ngôn</a:t>
            </a:r>
            <a:r>
              <a:rPr lang="en-US" sz="1600" dirty="0"/>
              <a:t> </a:t>
            </a:r>
            <a:r>
              <a:rPr lang="en-US" sz="1600" dirty="0" err="1"/>
              <a:t>ngữ</a:t>
            </a:r>
            <a:r>
              <a:rPr lang="en-US" sz="1600" dirty="0"/>
              <a:t> </a:t>
            </a:r>
            <a:r>
              <a:rPr lang="en-US" sz="1600" dirty="0" err="1"/>
              <a:t>lập</a:t>
            </a:r>
            <a:r>
              <a:rPr lang="en-US" sz="1600" dirty="0"/>
              <a:t> </a:t>
            </a:r>
            <a:r>
              <a:rPr lang="en-US" sz="1600" dirty="0" err="1"/>
              <a:t>trình</a:t>
            </a:r>
            <a:r>
              <a:rPr lang="en-US" sz="1600" dirty="0"/>
              <a:t> backend Java  </a:t>
            </a:r>
          </a:p>
          <a:p>
            <a:pPr lvl="0"/>
            <a:r>
              <a:rPr lang="en-US" sz="1600" dirty="0" err="1"/>
              <a:t>Hiểu</a:t>
            </a:r>
            <a:r>
              <a:rPr lang="en-US" sz="1600" dirty="0"/>
              <a:t> </a:t>
            </a:r>
            <a:r>
              <a:rPr lang="en-US" sz="1600" dirty="0" err="1"/>
              <a:t>biết</a:t>
            </a:r>
            <a:r>
              <a:rPr lang="en-US" sz="1600" dirty="0"/>
              <a:t> </a:t>
            </a:r>
            <a:r>
              <a:rPr lang="en-US" sz="1600" dirty="0" err="1"/>
              <a:t>về</a:t>
            </a:r>
            <a:r>
              <a:rPr lang="en-US" sz="1600" dirty="0"/>
              <a:t> </a:t>
            </a:r>
            <a:r>
              <a:rPr lang="en-US" sz="1600" dirty="0" err="1"/>
              <a:t>cài</a:t>
            </a:r>
            <a:r>
              <a:rPr lang="en-US" sz="1600" dirty="0"/>
              <a:t> </a:t>
            </a:r>
            <a:r>
              <a:rPr lang="en-US" sz="1600" dirty="0" err="1"/>
              <a:t>đặt</a:t>
            </a:r>
            <a:r>
              <a:rPr lang="en-US" sz="1600" dirty="0"/>
              <a:t> </a:t>
            </a:r>
            <a:r>
              <a:rPr lang="en-US" sz="1600" dirty="0" err="1"/>
              <a:t>môi</a:t>
            </a:r>
            <a:r>
              <a:rPr lang="en-US" sz="1600" dirty="0"/>
              <a:t> </a:t>
            </a:r>
            <a:r>
              <a:rPr lang="en-US" sz="1600" dirty="0" err="1"/>
              <a:t>trường</a:t>
            </a:r>
            <a:r>
              <a:rPr lang="en-US" sz="1600" dirty="0"/>
              <a:t> </a:t>
            </a:r>
            <a:r>
              <a:rPr lang="en-US" sz="1600" dirty="0" err="1"/>
              <a:t>phía</a:t>
            </a:r>
            <a:r>
              <a:rPr lang="en-US" sz="1600" dirty="0"/>
              <a:t> backend </a:t>
            </a:r>
            <a:r>
              <a:rPr lang="en-US" sz="1600" dirty="0" err="1"/>
              <a:t>và</a:t>
            </a:r>
            <a:r>
              <a:rPr lang="en-US" sz="1600" dirty="0"/>
              <a:t> frontend.</a:t>
            </a:r>
          </a:p>
          <a:p>
            <a:pPr lvl="0"/>
            <a:r>
              <a:rPr lang="en-US" sz="1600" dirty="0" err="1"/>
              <a:t>Sử</a:t>
            </a:r>
            <a:r>
              <a:rPr lang="en-US" sz="1600" dirty="0"/>
              <a:t> </a:t>
            </a:r>
            <a:r>
              <a:rPr lang="en-US" sz="1600" dirty="0" err="1"/>
              <a:t>dụng</a:t>
            </a:r>
            <a:r>
              <a:rPr lang="en-US" sz="1600" dirty="0"/>
              <a:t> </a:t>
            </a:r>
            <a:r>
              <a:rPr lang="en-US" sz="1600" dirty="0" err="1"/>
              <a:t>các</a:t>
            </a:r>
            <a:r>
              <a:rPr lang="en-US" sz="1600" dirty="0"/>
              <a:t> </a:t>
            </a:r>
            <a:r>
              <a:rPr lang="en-US" sz="1600" dirty="0" err="1"/>
              <a:t>thư</a:t>
            </a:r>
            <a:r>
              <a:rPr lang="en-US" sz="1600" dirty="0"/>
              <a:t> </a:t>
            </a:r>
            <a:r>
              <a:rPr lang="en-US" sz="1600" dirty="0" err="1"/>
              <a:t>viện</a:t>
            </a:r>
            <a:r>
              <a:rPr lang="en-US" sz="1600" dirty="0"/>
              <a:t> </a:t>
            </a:r>
            <a:r>
              <a:rPr lang="en-US" sz="1600" dirty="0" err="1"/>
              <a:t>bên</a:t>
            </a:r>
            <a:r>
              <a:rPr lang="en-US" sz="1600" dirty="0"/>
              <a:t> </a:t>
            </a:r>
            <a:r>
              <a:rPr lang="en-US" sz="1600" dirty="0" err="1"/>
              <a:t>thứ</a:t>
            </a:r>
            <a:r>
              <a:rPr lang="en-US" sz="1600" dirty="0"/>
              <a:t> 3 </a:t>
            </a:r>
            <a:r>
              <a:rPr lang="en-US" sz="1600" dirty="0" err="1"/>
              <a:t>để</a:t>
            </a:r>
            <a:r>
              <a:rPr lang="en-US" sz="1600" dirty="0"/>
              <a:t> </a:t>
            </a:r>
            <a:r>
              <a:rPr lang="en-US" sz="1600" dirty="0" err="1"/>
              <a:t>hỗ</a:t>
            </a:r>
            <a:r>
              <a:rPr lang="en-US" sz="1600" dirty="0"/>
              <a:t> </a:t>
            </a:r>
            <a:r>
              <a:rPr lang="en-US" sz="1600" dirty="0" err="1"/>
              <a:t>trợ</a:t>
            </a:r>
            <a:r>
              <a:rPr lang="en-US" sz="1600" dirty="0"/>
              <a:t> </a:t>
            </a:r>
            <a:r>
              <a:rPr lang="en-US" sz="1600" dirty="0" err="1"/>
              <a:t>xử</a:t>
            </a:r>
            <a:r>
              <a:rPr lang="en-US" sz="1600" dirty="0"/>
              <a:t> </a:t>
            </a:r>
            <a:r>
              <a:rPr lang="en-US" sz="1600" dirty="0" err="1"/>
              <a:t>lý</a:t>
            </a:r>
            <a:r>
              <a:rPr lang="en-US" sz="1600" dirty="0"/>
              <a:t> </a:t>
            </a:r>
            <a:r>
              <a:rPr lang="en-US" sz="1600" dirty="0" err="1"/>
              <a:t>nhanh</a:t>
            </a:r>
            <a:r>
              <a:rPr lang="en-US" sz="1600" dirty="0"/>
              <a:t> </a:t>
            </a:r>
            <a:r>
              <a:rPr lang="en-US" sz="1600" dirty="0" err="1"/>
              <a:t>hơn</a:t>
            </a:r>
            <a:r>
              <a:rPr lang="en-US" sz="1600" dirty="0"/>
              <a:t> .</a:t>
            </a:r>
          </a:p>
          <a:p>
            <a:pPr lvl="0"/>
            <a:r>
              <a:rPr lang="en-US" sz="1600" dirty="0" err="1"/>
              <a:t>Tìm</a:t>
            </a:r>
            <a:r>
              <a:rPr lang="en-US" sz="1600" dirty="0"/>
              <a:t> </a:t>
            </a:r>
            <a:r>
              <a:rPr lang="en-US" sz="1600" dirty="0" err="1"/>
              <a:t>hiểu</a:t>
            </a:r>
            <a:r>
              <a:rPr lang="en-US" sz="1600" dirty="0"/>
              <a:t> </a:t>
            </a:r>
            <a:r>
              <a:rPr lang="en-US" sz="1600" dirty="0" err="1"/>
              <a:t>thêm</a:t>
            </a:r>
            <a:r>
              <a:rPr lang="en-US" sz="1600" dirty="0"/>
              <a:t> </a:t>
            </a:r>
            <a:r>
              <a:rPr lang="en-US" sz="1600" dirty="0" err="1"/>
              <a:t>được</a:t>
            </a:r>
            <a:r>
              <a:rPr lang="en-US" sz="1600" dirty="0"/>
              <a:t> </a:t>
            </a:r>
            <a:r>
              <a:rPr lang="en-US" sz="1600" dirty="0" err="1"/>
              <a:t>về</a:t>
            </a:r>
            <a:r>
              <a:rPr lang="en-US" sz="1600" dirty="0"/>
              <a:t> </a:t>
            </a:r>
            <a:r>
              <a:rPr lang="en-US" sz="1600" dirty="0" err="1" smtClean="0"/>
              <a:t>cách</a:t>
            </a:r>
            <a:r>
              <a:rPr lang="en-US" sz="1600" dirty="0" smtClean="0"/>
              <a:t> </a:t>
            </a:r>
            <a:r>
              <a:rPr lang="en-US" sz="1600" dirty="0" err="1" smtClean="0"/>
              <a:t>giao</a:t>
            </a:r>
            <a:r>
              <a:rPr lang="en-US" sz="1600" dirty="0" smtClean="0"/>
              <a:t> </a:t>
            </a:r>
            <a:r>
              <a:rPr lang="en-US" sz="1600" dirty="0" err="1" smtClean="0"/>
              <a:t>tiếp</a:t>
            </a:r>
            <a:r>
              <a:rPr lang="en-US" sz="1600" dirty="0" smtClean="0"/>
              <a:t> </a:t>
            </a:r>
            <a:r>
              <a:rPr lang="en-US" sz="1600" dirty="0" err="1" smtClean="0"/>
              <a:t>giữa</a:t>
            </a:r>
            <a:r>
              <a:rPr lang="en-US" sz="1600" dirty="0" smtClean="0"/>
              <a:t> </a:t>
            </a:r>
            <a:r>
              <a:rPr lang="en-US" sz="1600" dirty="0" err="1" smtClean="0"/>
              <a:t>các</a:t>
            </a:r>
            <a:r>
              <a:rPr lang="en-US" sz="1600" dirty="0" smtClean="0"/>
              <a:t> </a:t>
            </a:r>
            <a:r>
              <a:rPr lang="en-US" sz="1600" dirty="0" err="1" smtClean="0"/>
              <a:t>ứng</a:t>
            </a:r>
            <a:r>
              <a:rPr lang="en-US" sz="1600" dirty="0" smtClean="0"/>
              <a:t> </a:t>
            </a:r>
            <a:r>
              <a:rPr lang="en-US" sz="1600" dirty="0" err="1" smtClean="0"/>
              <a:t>dụng</a:t>
            </a:r>
            <a:r>
              <a:rPr lang="en-US" sz="1600" dirty="0" smtClean="0"/>
              <a:t>, upload </a:t>
            </a:r>
            <a:r>
              <a:rPr lang="en-US" sz="1600" dirty="0" err="1" smtClean="0"/>
              <a:t>tài</a:t>
            </a:r>
            <a:r>
              <a:rPr lang="en-US" sz="1600" dirty="0" smtClean="0"/>
              <a:t> </a:t>
            </a:r>
            <a:r>
              <a:rPr lang="en-US" sz="1600" dirty="0" err="1" smtClean="0"/>
              <a:t>nguyên</a:t>
            </a:r>
            <a:r>
              <a:rPr lang="en-US" sz="1600" dirty="0" smtClean="0"/>
              <a:t>, </a:t>
            </a:r>
            <a:r>
              <a:rPr lang="en-US" sz="1600" dirty="0" err="1"/>
              <a:t>thao</a:t>
            </a:r>
            <a:r>
              <a:rPr lang="en-US" sz="1600" dirty="0"/>
              <a:t> </a:t>
            </a:r>
            <a:r>
              <a:rPr lang="en-US" sz="1600" dirty="0" err="1"/>
              <a:t>tác</a:t>
            </a:r>
            <a:r>
              <a:rPr lang="en-US" sz="1600" dirty="0"/>
              <a:t> </a:t>
            </a:r>
            <a:r>
              <a:rPr lang="en-US" sz="1600" dirty="0" err="1"/>
              <a:t>với</a:t>
            </a:r>
            <a:r>
              <a:rPr lang="en-US" sz="1600" dirty="0"/>
              <a:t> </a:t>
            </a:r>
            <a:r>
              <a:rPr lang="en-US" sz="1600" dirty="0" err="1"/>
              <a:t>dữ</a:t>
            </a:r>
            <a:r>
              <a:rPr lang="en-US" sz="1600" dirty="0"/>
              <a:t> </a:t>
            </a:r>
            <a:r>
              <a:rPr lang="en-US" sz="1600" dirty="0" err="1"/>
              <a:t>liệu</a:t>
            </a:r>
            <a:r>
              <a:rPr lang="en-US" sz="1600" dirty="0"/>
              <a:t>. </a:t>
            </a:r>
          </a:p>
          <a:p>
            <a:pPr lvl="0"/>
            <a:r>
              <a:rPr lang="en-US" sz="1600" dirty="0" err="1"/>
              <a:t>Nâng</a:t>
            </a:r>
            <a:r>
              <a:rPr lang="en-US" sz="1600" dirty="0"/>
              <a:t> </a:t>
            </a:r>
            <a:r>
              <a:rPr lang="en-US" sz="1600" dirty="0" err="1"/>
              <a:t>cao</a:t>
            </a:r>
            <a:r>
              <a:rPr lang="en-US" sz="1600" dirty="0"/>
              <a:t> </a:t>
            </a:r>
            <a:r>
              <a:rPr lang="en-US" sz="1600" dirty="0" err="1"/>
              <a:t>kỹ</a:t>
            </a:r>
            <a:r>
              <a:rPr lang="en-US" sz="1600" dirty="0"/>
              <a:t> </a:t>
            </a:r>
            <a:r>
              <a:rPr lang="en-US" sz="1600" dirty="0" err="1"/>
              <a:t>năng</a:t>
            </a:r>
            <a:r>
              <a:rPr lang="en-US" sz="1600" dirty="0"/>
              <a:t> </a:t>
            </a:r>
            <a:r>
              <a:rPr lang="en-US" sz="1600" dirty="0" err="1"/>
              <a:t>phân</a:t>
            </a:r>
            <a:r>
              <a:rPr lang="en-US" sz="1600" dirty="0"/>
              <a:t> </a:t>
            </a:r>
            <a:r>
              <a:rPr lang="en-US" sz="1600" dirty="0" err="1"/>
              <a:t>tích</a:t>
            </a:r>
            <a:r>
              <a:rPr lang="en-US" sz="1600" dirty="0"/>
              <a:t> </a:t>
            </a:r>
            <a:r>
              <a:rPr lang="en-US" sz="1600" dirty="0" err="1"/>
              <a:t>thiết</a:t>
            </a:r>
            <a:r>
              <a:rPr lang="en-US" sz="1600" dirty="0"/>
              <a:t> </a:t>
            </a:r>
            <a:r>
              <a:rPr lang="en-US" sz="1600" dirty="0" err="1"/>
              <a:t>kế</a:t>
            </a:r>
            <a:r>
              <a:rPr lang="en-US" sz="1600" dirty="0"/>
              <a:t> </a:t>
            </a:r>
            <a:r>
              <a:rPr lang="en-US" sz="1600" dirty="0" err="1"/>
              <a:t>hướng</a:t>
            </a:r>
            <a:r>
              <a:rPr lang="en-US" sz="1600" dirty="0"/>
              <a:t> </a:t>
            </a:r>
            <a:r>
              <a:rPr lang="en-US" sz="1600" dirty="0" err="1"/>
              <a:t>đối</a:t>
            </a:r>
            <a:r>
              <a:rPr lang="en-US" sz="1600" dirty="0"/>
              <a:t> </a:t>
            </a:r>
            <a:r>
              <a:rPr lang="en-US" sz="1600" dirty="0" err="1"/>
              <a:t>tượng</a:t>
            </a:r>
            <a:r>
              <a:rPr lang="en-US" sz="1600" dirty="0"/>
              <a:t> </a:t>
            </a:r>
            <a:r>
              <a:rPr lang="en-US" sz="1600" dirty="0" err="1"/>
              <a:t>với</a:t>
            </a:r>
            <a:r>
              <a:rPr lang="en-US" sz="1600" dirty="0"/>
              <a:t> UML  </a:t>
            </a:r>
          </a:p>
          <a:p>
            <a:pPr lvl="0"/>
            <a:r>
              <a:rPr lang="en-US" sz="1600" dirty="0" err="1"/>
              <a:t>Cách</a:t>
            </a:r>
            <a:r>
              <a:rPr lang="en-US" sz="1600" dirty="0"/>
              <a:t> </a:t>
            </a:r>
            <a:r>
              <a:rPr lang="en-US" sz="1600" dirty="0" err="1"/>
              <a:t>tổ</a:t>
            </a:r>
            <a:r>
              <a:rPr lang="en-US" sz="1600" dirty="0"/>
              <a:t> </a:t>
            </a:r>
            <a:r>
              <a:rPr lang="en-US" sz="1600" dirty="0" err="1"/>
              <a:t>chức</a:t>
            </a:r>
            <a:r>
              <a:rPr lang="en-US" sz="1600" dirty="0"/>
              <a:t> </a:t>
            </a:r>
            <a:r>
              <a:rPr lang="en-US" sz="1600" dirty="0" err="1"/>
              <a:t>thư</a:t>
            </a:r>
            <a:r>
              <a:rPr lang="en-US" sz="1600" dirty="0"/>
              <a:t> </a:t>
            </a:r>
            <a:r>
              <a:rPr lang="en-US" sz="1600" dirty="0" err="1"/>
              <a:t>mục</a:t>
            </a:r>
            <a:r>
              <a:rPr lang="en-US" sz="1600" dirty="0"/>
              <a:t> code </a:t>
            </a:r>
          </a:p>
          <a:p>
            <a:pPr lvl="0"/>
            <a:r>
              <a:rPr lang="en-US" sz="1600" dirty="0" err="1"/>
              <a:t>Các</a:t>
            </a:r>
            <a:r>
              <a:rPr lang="en-US" sz="1600" dirty="0"/>
              <a:t> </a:t>
            </a:r>
            <a:r>
              <a:rPr lang="en-US" sz="1600" dirty="0" err="1"/>
              <a:t>kỹ</a:t>
            </a:r>
            <a:r>
              <a:rPr lang="en-US" sz="1600" dirty="0"/>
              <a:t> </a:t>
            </a:r>
            <a:r>
              <a:rPr lang="en-US" sz="1600" dirty="0" err="1"/>
              <a:t>năng</a:t>
            </a:r>
            <a:r>
              <a:rPr lang="en-US" sz="1600" dirty="0"/>
              <a:t> deploy </a:t>
            </a:r>
            <a:r>
              <a:rPr lang="en-US" sz="1600" dirty="0" err="1"/>
              <a:t>sản</a:t>
            </a:r>
            <a:r>
              <a:rPr lang="en-US" sz="1600" dirty="0"/>
              <a:t> </a:t>
            </a:r>
            <a:r>
              <a:rPr lang="en-US" sz="1600" dirty="0" err="1"/>
              <a:t>phẩm</a:t>
            </a:r>
            <a:r>
              <a:rPr lang="en-US" sz="1600" dirty="0"/>
              <a:t> </a:t>
            </a:r>
            <a:r>
              <a:rPr lang="en-US" sz="1600" dirty="0" err="1"/>
              <a:t>lên</a:t>
            </a:r>
            <a:r>
              <a:rPr lang="en-US" sz="1600" dirty="0"/>
              <a:t> </a:t>
            </a:r>
            <a:r>
              <a:rPr lang="en-US" sz="1600" dirty="0" err="1"/>
              <a:t>môi</a:t>
            </a:r>
            <a:r>
              <a:rPr lang="en-US" sz="1600" dirty="0"/>
              <a:t> </a:t>
            </a:r>
            <a:r>
              <a:rPr lang="en-US" sz="1600" dirty="0" err="1"/>
              <a:t>trường</a:t>
            </a:r>
            <a:r>
              <a:rPr lang="en-US" sz="1600" dirty="0"/>
              <a:t> </a:t>
            </a:r>
            <a:r>
              <a:rPr lang="en-US" sz="1600" dirty="0" err="1"/>
              <a:t>ứng</a:t>
            </a:r>
            <a:r>
              <a:rPr lang="en-US" sz="1600" dirty="0"/>
              <a:t> </a:t>
            </a:r>
            <a:r>
              <a:rPr lang="en-US" sz="1600" dirty="0" err="1"/>
              <a:t>dụng</a:t>
            </a:r>
            <a:r>
              <a:rPr lang="en-US" sz="1600" dirty="0"/>
              <a:t>. </a:t>
            </a:r>
          </a:p>
          <a:p>
            <a:pPr lvl="0"/>
            <a:r>
              <a:rPr lang="en-US" sz="1600" dirty="0" err="1"/>
              <a:t>Nắm</a:t>
            </a:r>
            <a:r>
              <a:rPr lang="en-US" sz="1600" dirty="0"/>
              <a:t> </a:t>
            </a:r>
            <a:r>
              <a:rPr lang="en-US" sz="1600" dirty="0" err="1"/>
              <a:t>bắt</a:t>
            </a:r>
            <a:r>
              <a:rPr lang="en-US" sz="1600" dirty="0"/>
              <a:t> </a:t>
            </a:r>
            <a:r>
              <a:rPr lang="en-US" sz="1600" dirty="0" err="1"/>
              <a:t>cơ</a:t>
            </a:r>
            <a:r>
              <a:rPr lang="en-US" sz="1600" dirty="0"/>
              <a:t> </a:t>
            </a:r>
            <a:r>
              <a:rPr lang="en-US" sz="1600" dirty="0" err="1"/>
              <a:t>bản</a:t>
            </a:r>
            <a:r>
              <a:rPr lang="en-US" sz="1600" dirty="0"/>
              <a:t> </a:t>
            </a:r>
            <a:r>
              <a:rPr lang="en-US" sz="1600" dirty="0" err="1"/>
              <a:t>kỹ</a:t>
            </a:r>
            <a:r>
              <a:rPr lang="en-US" sz="1600" dirty="0"/>
              <a:t> </a:t>
            </a:r>
            <a:r>
              <a:rPr lang="en-US" sz="1600" dirty="0" err="1"/>
              <a:t>năng</a:t>
            </a:r>
            <a:r>
              <a:rPr lang="en-US" sz="1600" dirty="0"/>
              <a:t> debug code 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81553" y="1408807"/>
            <a:ext cx="4473648" cy="4571999"/>
          </a:xfrm>
        </p:spPr>
        <p:txBody>
          <a:bodyPr>
            <a:normAutofit/>
          </a:bodyPr>
          <a:lstStyle/>
          <a:p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phát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triển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của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sản</a:t>
            </a:r>
            <a:r>
              <a:rPr lang="en-US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b="1" dirty="0" err="1" smtClean="0">
                <a:latin typeface="Times New Roman" pitchFamily="18" charset="0"/>
                <a:cs typeface="Times New Roman" pitchFamily="18" charset="0"/>
              </a:rPr>
              <a:t>phẩm</a:t>
            </a:r>
            <a:endParaRPr lang="en-US" b="1" dirty="0" smtClean="0">
              <a:latin typeface="Times New Roman" pitchFamily="18" charset="0"/>
              <a:cs typeface="Times New Roman" pitchFamily="18" charset="0"/>
            </a:endParaRPr>
          </a:p>
          <a:p>
            <a:pPr lvl="0"/>
            <a:r>
              <a:rPr lang="en-US" sz="1600" dirty="0" err="1"/>
              <a:t>Phát</a:t>
            </a:r>
            <a:r>
              <a:rPr lang="en-US" sz="1600" dirty="0"/>
              <a:t> </a:t>
            </a:r>
            <a:r>
              <a:rPr lang="en-US" sz="1600" dirty="0" err="1"/>
              <a:t>triển</a:t>
            </a:r>
            <a:r>
              <a:rPr lang="en-US" sz="1600" dirty="0"/>
              <a:t> </a:t>
            </a:r>
            <a:r>
              <a:rPr lang="en-US" sz="1600" dirty="0" err="1"/>
              <a:t>những</a:t>
            </a:r>
            <a:r>
              <a:rPr lang="en-US" sz="1600" dirty="0"/>
              <a:t> </a:t>
            </a:r>
            <a:r>
              <a:rPr lang="en-US" sz="1600" dirty="0" err="1"/>
              <a:t>tính</a:t>
            </a:r>
            <a:r>
              <a:rPr lang="en-US" sz="1600" dirty="0"/>
              <a:t> </a:t>
            </a:r>
            <a:r>
              <a:rPr lang="en-US" sz="1600" dirty="0" err="1"/>
              <a:t>năng</a:t>
            </a:r>
            <a:r>
              <a:rPr lang="en-US" sz="1600" dirty="0"/>
              <a:t> </a:t>
            </a:r>
            <a:r>
              <a:rPr lang="en-US" sz="1600" dirty="0" err="1"/>
              <a:t>còn</a:t>
            </a:r>
            <a:r>
              <a:rPr lang="en-US" sz="1600" dirty="0"/>
              <a:t> </a:t>
            </a:r>
            <a:r>
              <a:rPr lang="en-US" sz="1600" dirty="0" err="1"/>
              <a:t>thiếu</a:t>
            </a:r>
            <a:r>
              <a:rPr lang="en-US" sz="1600" dirty="0"/>
              <a:t> </a:t>
            </a:r>
            <a:r>
              <a:rPr lang="en-US" sz="1600" dirty="0" err="1"/>
              <a:t>như</a:t>
            </a:r>
            <a:r>
              <a:rPr lang="en-US" sz="1600" dirty="0"/>
              <a:t>: </a:t>
            </a:r>
            <a:r>
              <a:rPr lang="en-US" sz="1600" dirty="0" err="1"/>
              <a:t>Người</a:t>
            </a:r>
            <a:r>
              <a:rPr lang="en-US" sz="1600" dirty="0"/>
              <a:t> </a:t>
            </a:r>
            <a:r>
              <a:rPr lang="en-US" sz="1600" dirty="0" err="1"/>
              <a:t>dùng</a:t>
            </a:r>
            <a:r>
              <a:rPr lang="en-US" sz="1600" dirty="0"/>
              <a:t> VIP, </a:t>
            </a:r>
            <a:r>
              <a:rPr lang="en-US" sz="1600" dirty="0" err="1"/>
              <a:t>phân</a:t>
            </a:r>
            <a:r>
              <a:rPr lang="en-US" sz="1600" dirty="0"/>
              <a:t> </a:t>
            </a:r>
            <a:r>
              <a:rPr lang="en-US" sz="1600" dirty="0" err="1"/>
              <a:t>loại</a:t>
            </a:r>
            <a:r>
              <a:rPr lang="en-US" sz="1600" dirty="0"/>
              <a:t> </a:t>
            </a:r>
            <a:r>
              <a:rPr lang="en-US" sz="1600" dirty="0" err="1"/>
              <a:t>thẻ</a:t>
            </a:r>
            <a:r>
              <a:rPr lang="en-US" sz="1600" dirty="0"/>
              <a:t> </a:t>
            </a:r>
            <a:r>
              <a:rPr lang="en-US" sz="1600" dirty="0" err="1"/>
              <a:t>nhớ</a:t>
            </a:r>
            <a:r>
              <a:rPr lang="en-US" sz="1600" dirty="0"/>
              <a:t>, </a:t>
            </a:r>
            <a:r>
              <a:rPr lang="en-US" sz="1600" dirty="0" err="1"/>
              <a:t>đa</a:t>
            </a:r>
            <a:r>
              <a:rPr lang="en-US" sz="1600" dirty="0"/>
              <a:t> </a:t>
            </a:r>
            <a:r>
              <a:rPr lang="en-US" sz="1600" dirty="0" err="1"/>
              <a:t>người</a:t>
            </a:r>
            <a:r>
              <a:rPr lang="en-US" sz="1600" dirty="0"/>
              <a:t> </a:t>
            </a:r>
            <a:r>
              <a:rPr lang="en-US" sz="1600" dirty="0" err="1"/>
              <a:t>dùng</a:t>
            </a:r>
            <a:r>
              <a:rPr lang="en-US" sz="1600" dirty="0"/>
              <a:t>…  </a:t>
            </a:r>
          </a:p>
          <a:p>
            <a:pPr lvl="0"/>
            <a:r>
              <a:rPr lang="en-US" sz="1600" dirty="0" err="1"/>
              <a:t>Phát</a:t>
            </a:r>
            <a:r>
              <a:rPr lang="en-US" sz="1600" dirty="0"/>
              <a:t> </a:t>
            </a:r>
            <a:r>
              <a:rPr lang="en-US" sz="1600" dirty="0" err="1"/>
              <a:t>triển</a:t>
            </a:r>
            <a:r>
              <a:rPr lang="en-US" sz="1600" dirty="0"/>
              <a:t> </a:t>
            </a:r>
            <a:r>
              <a:rPr lang="en-US" sz="1600" dirty="0" err="1"/>
              <a:t>được</a:t>
            </a:r>
            <a:r>
              <a:rPr lang="en-US" sz="1600" dirty="0"/>
              <a:t> </a:t>
            </a:r>
            <a:r>
              <a:rPr lang="en-US" sz="1600" dirty="0" err="1"/>
              <a:t>các</a:t>
            </a:r>
            <a:r>
              <a:rPr lang="en-US" sz="1600" dirty="0"/>
              <a:t> </a:t>
            </a:r>
            <a:r>
              <a:rPr lang="en-US" sz="1600" dirty="0" err="1"/>
              <a:t>giao</a:t>
            </a:r>
            <a:r>
              <a:rPr lang="en-US" sz="1600" dirty="0"/>
              <a:t> </a:t>
            </a:r>
            <a:r>
              <a:rPr lang="en-US" sz="1600" dirty="0" err="1"/>
              <a:t>diện</a:t>
            </a:r>
            <a:r>
              <a:rPr lang="en-US" sz="1600" dirty="0"/>
              <a:t> ở </a:t>
            </a:r>
            <a:r>
              <a:rPr lang="en-US" sz="1600" dirty="0" err="1"/>
              <a:t>màn</a:t>
            </a:r>
            <a:r>
              <a:rPr lang="en-US" sz="1600" dirty="0"/>
              <a:t> </a:t>
            </a:r>
            <a:r>
              <a:rPr lang="en-US" sz="1600" dirty="0" err="1"/>
              <a:t>hình</a:t>
            </a:r>
            <a:r>
              <a:rPr lang="en-US" sz="1600" dirty="0"/>
              <a:t> </a:t>
            </a:r>
            <a:r>
              <a:rPr lang="en-US" sz="1600" dirty="0" err="1"/>
              <a:t>khác</a:t>
            </a:r>
            <a:r>
              <a:rPr lang="en-US" sz="1600" dirty="0"/>
              <a:t> </a:t>
            </a:r>
            <a:r>
              <a:rPr lang="en-US" sz="1600" dirty="0" err="1"/>
              <a:t>nhau</a:t>
            </a:r>
            <a:r>
              <a:rPr lang="en-US" sz="1600" dirty="0"/>
              <a:t>.  </a:t>
            </a:r>
          </a:p>
          <a:p>
            <a:pPr lvl="0"/>
            <a:r>
              <a:rPr lang="en-US" sz="1600" dirty="0" err="1"/>
              <a:t>Ứng</a:t>
            </a:r>
            <a:r>
              <a:rPr lang="en-US" sz="1600" dirty="0"/>
              <a:t> </a:t>
            </a:r>
            <a:r>
              <a:rPr lang="en-US" sz="1600" dirty="0" err="1"/>
              <a:t>dụng</a:t>
            </a:r>
            <a:r>
              <a:rPr lang="en-US" sz="1600" dirty="0"/>
              <a:t> </a:t>
            </a:r>
            <a:r>
              <a:rPr lang="en-US" sz="1600" dirty="0" err="1"/>
              <a:t>kỹ</a:t>
            </a:r>
            <a:r>
              <a:rPr lang="en-US" sz="1600" dirty="0"/>
              <a:t> </a:t>
            </a:r>
            <a:r>
              <a:rPr lang="en-US" sz="1600" dirty="0" err="1"/>
              <a:t>thuật</a:t>
            </a:r>
            <a:r>
              <a:rPr lang="en-US" sz="1600" dirty="0"/>
              <a:t> </a:t>
            </a:r>
            <a:r>
              <a:rPr lang="en-US" sz="1600" dirty="0" err="1"/>
              <a:t>đề</a:t>
            </a:r>
            <a:r>
              <a:rPr lang="en-US" sz="1600" dirty="0"/>
              <a:t> </a:t>
            </a:r>
            <a:r>
              <a:rPr lang="en-US" sz="1600" dirty="0" err="1"/>
              <a:t>xuất</a:t>
            </a:r>
            <a:r>
              <a:rPr lang="en-US" sz="1600" dirty="0"/>
              <a:t> </a:t>
            </a:r>
            <a:r>
              <a:rPr lang="en-US" sz="1600" dirty="0" err="1"/>
              <a:t>các</a:t>
            </a:r>
            <a:r>
              <a:rPr lang="en-US" sz="1600" dirty="0"/>
              <a:t> </a:t>
            </a:r>
            <a:r>
              <a:rPr lang="en-US" sz="1600" dirty="0" err="1"/>
              <a:t>sản</a:t>
            </a:r>
            <a:r>
              <a:rPr lang="en-US" sz="1600" dirty="0"/>
              <a:t> </a:t>
            </a:r>
            <a:r>
              <a:rPr lang="en-US" sz="1600" dirty="0" err="1"/>
              <a:t>phẩm</a:t>
            </a:r>
            <a:r>
              <a:rPr lang="en-US" sz="1600" dirty="0"/>
              <a:t> </a:t>
            </a:r>
            <a:r>
              <a:rPr lang="en-US" sz="1600" dirty="0" err="1"/>
              <a:t>tương</a:t>
            </a:r>
            <a:r>
              <a:rPr lang="en-US" sz="1600" dirty="0"/>
              <a:t> </a:t>
            </a:r>
            <a:r>
              <a:rPr lang="en-US" sz="1600" dirty="0" err="1"/>
              <a:t>tự</a:t>
            </a:r>
            <a:r>
              <a:rPr lang="en-US" sz="1600" dirty="0"/>
              <a:t> </a:t>
            </a:r>
            <a:r>
              <a:rPr lang="en-US" sz="1600" dirty="0" err="1"/>
              <a:t>mà</a:t>
            </a:r>
            <a:r>
              <a:rPr lang="en-US" sz="1600" dirty="0"/>
              <a:t> </a:t>
            </a:r>
            <a:r>
              <a:rPr lang="en-US" sz="1600" dirty="0" err="1"/>
              <a:t>người</a:t>
            </a:r>
            <a:r>
              <a:rPr lang="en-US" sz="1600" dirty="0"/>
              <a:t> </a:t>
            </a:r>
            <a:r>
              <a:rPr lang="en-US" sz="1600" dirty="0" err="1"/>
              <a:t>dùng</a:t>
            </a:r>
            <a:r>
              <a:rPr lang="en-US" sz="1600" dirty="0"/>
              <a:t> </a:t>
            </a:r>
            <a:r>
              <a:rPr lang="en-US" sz="1600" dirty="0" err="1"/>
              <a:t>quan</a:t>
            </a:r>
            <a:r>
              <a:rPr lang="en-US" sz="1600" dirty="0"/>
              <a:t> </a:t>
            </a:r>
            <a:r>
              <a:rPr lang="en-US" sz="1600" dirty="0" err="1"/>
              <a:t>tâm</a:t>
            </a:r>
            <a:r>
              <a:rPr lang="en-US" sz="1600" dirty="0"/>
              <a:t>.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454915" y="1145340"/>
            <a:ext cx="3168503" cy="914400"/>
          </a:xfrm>
        </p:spPr>
        <p:txBody>
          <a:bodyPr>
            <a:normAutofit/>
          </a:bodyPr>
          <a:lstStyle/>
          <a:p>
            <a:pPr algn="ctr"/>
            <a:r>
              <a:rPr lang="en-US" sz="3200" b="1" dirty="0" err="1" smtClean="0">
                <a:latin typeface="Times New Roman" pitchFamily="18" charset="0"/>
                <a:cs typeface="Times New Roman" pitchFamily="18" charset="0"/>
              </a:rPr>
              <a:t>Lời</a:t>
            </a:r>
            <a:r>
              <a:rPr lang="en-US" sz="32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b="1" dirty="0" err="1" smtClean="0">
                <a:latin typeface="Times New Roman" pitchFamily="18" charset="0"/>
                <a:cs typeface="Times New Roman" pitchFamily="18" charset="0"/>
              </a:rPr>
              <a:t>cẢm</a:t>
            </a:r>
            <a:r>
              <a:rPr lang="en-US" sz="3200" b="1" dirty="0" smtClean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3200" b="1" dirty="0" err="1" smtClean="0">
                <a:latin typeface="Times New Roman" pitchFamily="18" charset="0"/>
                <a:cs typeface="Times New Roman" pitchFamily="18" charset="0"/>
              </a:rPr>
              <a:t>ơn</a:t>
            </a:r>
            <a:endParaRPr lang="en-US" sz="3200" b="1" dirty="0">
              <a:latin typeface="Times New Roman" pitchFamily="18" charset="0"/>
              <a:cs typeface="Times New Roman" pitchFamily="18" charset="0"/>
            </a:endParaRP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990917" y="2395729"/>
            <a:ext cx="10096501" cy="3742448"/>
          </a:xfrm>
        </p:spPr>
        <p:txBody>
          <a:bodyPr>
            <a:noAutofit/>
          </a:bodyPr>
          <a:lstStyle/>
          <a:p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xin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gửi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lời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cảm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ơn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chân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thành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đến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giáo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viên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dẫn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– PGS.TS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Trần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Đăng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Hưng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–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Đại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học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Công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nghiệp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Hà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Nội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người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đã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tận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tình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hướng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dẫn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chỉ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bảo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trong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suốt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quá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trình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làm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khoá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luận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sz="2400" dirty="0">
              <a:latin typeface="Times New Roman" pitchFamily="18" charset="0"/>
              <a:cs typeface="Times New Roman" pitchFamily="18" charset="0"/>
            </a:endParaRPr>
          </a:p>
          <a:p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cũng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xin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gửi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cảm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ơn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chân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thành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nhất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tới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các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thầy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cô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giáo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trong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Đại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học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Công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Nghiệp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Hà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Nội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nói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chung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các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thầy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cô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trong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Bộ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môn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Kỹ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thuật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phần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mềm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nói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riêng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đã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dạy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dỗ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cho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kiến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thức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về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các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môn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đại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cương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cũng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như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các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môn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chuyên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ngành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,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giúp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có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được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cơ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sở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lý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thuyết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vững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vàng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và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tạo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điều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kiện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giúp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đỡ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trong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suốt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quá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trình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em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tham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gia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học</a:t>
            </a:r>
            <a:r>
              <a:rPr lang="en-US" sz="2400" dirty="0">
                <a:latin typeface="Times New Roman" pitchFamily="18" charset="0"/>
                <a:cs typeface="Times New Roman" pitchFamily="18" charset="0"/>
              </a:rPr>
              <a:t> </a:t>
            </a:r>
            <a:r>
              <a:rPr lang="en-US" sz="2400" dirty="0" err="1">
                <a:latin typeface="Times New Roman" pitchFamily="18" charset="0"/>
                <a:cs typeface="Times New Roman" pitchFamily="18" charset="0"/>
              </a:rPr>
              <a:t>tập</a:t>
            </a:r>
            <a:r>
              <a:rPr lang="en-US" sz="2400" dirty="0" smtClean="0">
                <a:latin typeface="Times New Roman" pitchFamily="18" charset="0"/>
                <a:cs typeface="Times New Roman" pitchFamily="18" charset="0"/>
              </a:rPr>
              <a:t>.</a:t>
            </a:r>
          </a:p>
          <a:p>
            <a:endParaRPr lang="en-US" sz="2400" dirty="0">
              <a:latin typeface="Times New Roman" pitchFamily="18" charset="0"/>
              <a:cs typeface="Times New Roman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1564751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Academic Literature 16x9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Academic Literature">
      <a:dk1>
        <a:srgbClr val="514843"/>
      </a:dk1>
      <a:lt1>
        <a:srgbClr val="FFFFFF"/>
      </a:lt1>
      <a:dk2>
        <a:srgbClr val="000000"/>
      </a:dk2>
      <a:lt2>
        <a:srgbClr val="FFFFF3"/>
      </a:lt2>
      <a:accent1>
        <a:srgbClr val="514843"/>
      </a:accent1>
      <a:accent2>
        <a:srgbClr val="6D7D66"/>
      </a:accent2>
      <a:accent3>
        <a:srgbClr val="525A6A"/>
      </a:accent3>
      <a:accent4>
        <a:srgbClr val="827266"/>
      </a:accent4>
      <a:accent5>
        <a:srgbClr val="AE9A7E"/>
      </a:accent5>
      <a:accent6>
        <a:srgbClr val="A8A39E"/>
      </a:accent6>
      <a:hlink>
        <a:srgbClr val="59704F"/>
      </a:hlink>
      <a:folHlink>
        <a:srgbClr val="A8A39E"/>
      </a:folHlink>
    </a:clrScheme>
    <a:fontScheme name="Plantagenet Cherokee-Euphemia">
      <a:majorFont>
        <a:latin typeface="Plantagenet Cherokee"/>
        <a:ea typeface=""/>
        <a:cs typeface=""/>
      </a:majorFont>
      <a:minorFont>
        <a:latin typeface="Euphemia"/>
        <a:ea typeface=""/>
        <a:cs typeface=""/>
      </a:minorFont>
    </a:fontScheme>
    <a:fmtScheme name="AcademicLiterature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300000"/>
              </a:schemeClr>
            </a:gs>
            <a:gs pos="100000">
              <a:schemeClr val="phClr">
                <a:tint val="68000"/>
                <a:satMod val="300000"/>
              </a:schemeClr>
            </a:gs>
          </a:gsLst>
          <a:path path="rect">
            <a:fillToRect l="50000" t="50000" r="50000" b="50000"/>
          </a:path>
        </a:gradFill>
        <a:gradFill rotWithShape="1">
          <a:gsLst>
            <a:gs pos="0">
              <a:schemeClr val="phClr">
                <a:shade val="100000"/>
                <a:satMod val="137000"/>
              </a:schemeClr>
            </a:gs>
            <a:gs pos="71000">
              <a:schemeClr val="phClr">
                <a:shade val="98000"/>
                <a:satMod val="137000"/>
              </a:schemeClr>
            </a:gs>
            <a:gs pos="100000">
              <a:schemeClr val="phClr">
                <a:shade val="75000"/>
                <a:satMod val="137000"/>
              </a:schemeClr>
            </a:gs>
          </a:gsLst>
          <a:path path="rect">
            <a:fillToRect l="50000" t="50000" r="50000" b="50000"/>
          </a:path>
        </a:gradFill>
      </a:fillStyleLst>
      <a:lnStyleLst>
        <a:ln w="6350" cap="rnd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48000" cap="flat" cmpd="thickThin" algn="ctr">
          <a:solidFill>
            <a:schemeClr val="phClr"/>
          </a:solidFill>
          <a:prstDash val="solid"/>
        </a:ln>
        <a:ln w="48500" cap="flat" cmpd="thickThin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5000" dist="25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39000" dist="25400" dir="5400000" rotWithShape="0">
              <a:srgbClr val="000000">
                <a:alpha val="38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800000"/>
            </a:lightRig>
          </a:scene3d>
          <a:sp3d prstMaterial="matte">
            <a:bevelT h="200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20000" t="20000" r="20000" b="2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90000"/>
                <a:alpha val="80000"/>
                <a:satMod val="200000"/>
              </a:schemeClr>
            </a:gs>
          </a:gsLst>
          <a:path path="rect">
            <a:fillToRect l="5000" t="5000" r="5000" b="5000"/>
          </a:path>
        </a:gradFill>
      </a:bgFillStyleLst>
    </a:fmtScheme>
  </a:themeElements>
  <a:objectDefaults>
    <a:lnDef>
      <a:spPr>
        <a:ln>
          <a:solidFill>
            <a:schemeClr val="accent1"/>
          </a:solidFill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526</TotalTime>
  <Words>784</Words>
  <Application>Microsoft Office PowerPoint</Application>
  <PresentationFormat>Widescreen</PresentationFormat>
  <Paragraphs>95</Paragraphs>
  <Slides>20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6" baseType="lpstr">
      <vt:lpstr>Arial</vt:lpstr>
      <vt:lpstr>Euphemia</vt:lpstr>
      <vt:lpstr>Plantagenet Cherokee</vt:lpstr>
      <vt:lpstr>Times New Roman</vt:lpstr>
      <vt:lpstr>Wingdings</vt:lpstr>
      <vt:lpstr>Academic Literature 16x9</vt:lpstr>
      <vt:lpstr>Báo Cáo ĐỒ ÁN TỐT NGHIỆP ĐẠI HỌC</vt:lpstr>
      <vt:lpstr>Nội dung đồ án</vt:lpstr>
      <vt:lpstr>I. Lý do chọn đề tài, mục tiêu và kết quả dự kiến</vt:lpstr>
      <vt:lpstr>II. Phân tích và thiết kế hệ thống</vt:lpstr>
      <vt:lpstr>Biểu đồ use case </vt:lpstr>
      <vt:lpstr>Biểu đồ use case </vt:lpstr>
      <vt:lpstr>Kịch bản và biểu đồ tuần tự</vt:lpstr>
      <vt:lpstr>Cơ sở dữ liệu</vt:lpstr>
      <vt:lpstr>Luồng hoạt động</vt:lpstr>
      <vt:lpstr>III. Công nghệ sử dụng</vt:lpstr>
      <vt:lpstr>IV. Kết quả chương trình</vt:lpstr>
      <vt:lpstr>Một số giao diện chương trình</vt:lpstr>
      <vt:lpstr>Một số giao diện chương trình</vt:lpstr>
      <vt:lpstr>Một số giao diện chương trình</vt:lpstr>
      <vt:lpstr>Một số giao diện chương trình</vt:lpstr>
      <vt:lpstr>Một số giao diện chương trình</vt:lpstr>
      <vt:lpstr>Một số giao diện chương trình</vt:lpstr>
      <vt:lpstr>Một số giao diện chương trình</vt:lpstr>
      <vt:lpstr>V. Tổng kết</vt:lpstr>
      <vt:lpstr>Lời cẢm ơn</vt:lpstr>
    </vt:vector>
  </TitlesOfParts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 With Picture Layout</dc:title>
  <dc:creator>Tu Cao</dc:creator>
  <cp:lastModifiedBy>Microsoft account</cp:lastModifiedBy>
  <cp:revision>50</cp:revision>
  <dcterms:created xsi:type="dcterms:W3CDTF">2014-04-17T22:28:38Z</dcterms:created>
  <dcterms:modified xsi:type="dcterms:W3CDTF">2025-05-22T08:50:05Z</dcterms:modified>
</cp:coreProperties>
</file>